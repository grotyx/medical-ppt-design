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4"/>
    <p:sldId id="269" r:id="rId15"/>
    <p:sldId id="270" r:id="rId16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5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min Park" userId="4d1078831f804aa8" providerId="LiveId" clId="{FD74ABD8-2DB4-4925-8651-47553808EDF3}"/>
    <pc:docChg chg="modSld">
      <pc:chgData name="Sangmin Park" userId="4d1078831f804aa8" providerId="LiveId" clId="{FD74ABD8-2DB4-4925-8651-47553808EDF3}" dt="2026-06-06T15:28:18.166" v="0" actId="14861"/>
      <pc:docMkLst>
        <pc:docMk/>
      </pc:docMkLst>
      <pc:sldChg chg="modSp mod">
        <pc:chgData name="Sangmin Park" userId="4d1078831f804aa8" providerId="LiveId" clId="{FD74ABD8-2DB4-4925-8651-47553808EDF3}" dt="2026-06-06T15:28:18.166" v="0" actId="14861"/>
        <pc:sldMkLst>
          <pc:docMk/>
          <pc:sldMk cId="0" sldId="259"/>
        </pc:sldMkLst>
        <pc:spChg chg="mod">
          <ac:chgData name="Sangmin Park" userId="4d1078831f804aa8" providerId="LiveId" clId="{FD74ABD8-2DB4-4925-8651-47553808EDF3}" dt="2026-06-06T15:28:18.166" v="0" actId="14861"/>
          <ac:spMkLst>
            <pc:docMk/>
            <pc:sldMk cId="0" sldId="259"/>
            <ac:spMk id="13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spc="-18">
                <a:solidFill>
                  <a:srgbClr val="6B6B6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0" i="0" spc="-18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800" b="1" i="0" spc="-28">
                <a:solidFill>
                  <a:srgbClr val="006241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200">
                <a:solidFill>
                  <a:srgbClr val="E8E5D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spc="-12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36">
                <a:solidFill>
                  <a:srgbClr val="006241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 i="0" spc="-14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0" spc="-16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 spc="-4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645920"/>
            <a:ext cx="5870448" cy="3246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sz="2600" b="1" spc="-26" dirty="0">
                <a:solidFill>
                  <a:srgbClr val="1F1F1F"/>
                </a:solidFill>
                <a:latin typeface="Pretendard"/>
              </a:rPr>
              <a:t>Headline claim — the punchline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  <a:p>
            <a:pPr marL="320040" indent="-320040">
              <a:lnSpc>
                <a:spcPct val="112000"/>
              </a:lnSpc>
              <a:spcBef>
                <a:spcPts val="12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1800" b="0" spc="-18" dirty="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spc="-16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spc="-17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BA2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spc="-11">
                <a:solidFill>
                  <a:srgbClr val="1F1F1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spc="-16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 spc="-26">
                <a:solidFill>
                  <a:srgbClr val="1F1F1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spc="-14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spc="-15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spc="-2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6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 spc="-18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noFill/>
          <a:ln w="952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spc="-14">
                <a:solidFill>
                  <a:srgbClr val="1F1F1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 spc="-44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spc="-22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i="0" spc="-16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spc="-20">
                <a:solidFill>
                  <a:srgbClr val="1F1F1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spc="-24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 spc="-17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 spc="-14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spc="-2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 spc="-17">
                <a:solidFill>
                  <a:srgbClr val="1F1F1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spc="-14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noFill/>
          <a:ln w="12700">
            <a:solidFill>
              <a:srgbClr val="1E3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 spc="-17">
                <a:solidFill>
                  <a:srgbClr val="1F1F1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J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Timeline — Milestone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54480" y="3310128"/>
            <a:ext cx="9052560" cy="3200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45389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3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Single-center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pilot</a:t>
            </a:r>
          </a:p>
        </p:txBody>
      </p:sp>
      <p:sp>
        <p:nvSpPr>
          <p:cNvPr id="41" name="Oval 40"/>
          <p:cNvSpPr/>
          <p:nvPr/>
        </p:nvSpPr>
        <p:spPr>
          <a:xfrm>
            <a:off x="3717035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811779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0339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Multicenter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protocol</a:t>
            </a:r>
          </a:p>
        </p:txBody>
      </p:sp>
      <p:sp>
        <p:nvSpPr>
          <p:cNvPr id="44" name="Oval 43"/>
          <p:cNvSpPr/>
          <p:nvPr/>
        </p:nvSpPr>
        <p:spPr>
          <a:xfrm>
            <a:off x="598017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7492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First RCT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enrolment</a:t>
            </a:r>
          </a:p>
        </p:txBody>
      </p:sp>
      <p:sp>
        <p:nvSpPr>
          <p:cNvPr id="47" name="Oval 46"/>
          <p:cNvSpPr/>
          <p:nvPr/>
        </p:nvSpPr>
        <p:spPr>
          <a:xfrm>
            <a:off x="824331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3806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4662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Two RCTs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completed</a:t>
            </a:r>
          </a:p>
        </p:txBody>
      </p:sp>
      <p:sp>
        <p:nvSpPr>
          <p:cNvPr id="50" name="Oval 49"/>
          <p:cNvSpPr/>
          <p:nvPr/>
        </p:nvSpPr>
        <p:spPr>
          <a:xfrm>
            <a:off x="10506456" y="3259836"/>
            <a:ext cx="201168" cy="201168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0" y="26974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spc="-22">
                <a:solidFill>
                  <a:srgbClr val="006241"/>
                </a:solidFill>
                <a:latin typeface="Pretendard"/>
              </a:rPr>
              <a:t>2025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09760" y="3639312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Pooled</a:t>
            </a:r>
          </a:p>
          <a:p>
            <a:pPr algn="ctr"/>
            <a:r>
              <a:rPr sz="1400" b="0" spc="-14">
                <a:solidFill>
                  <a:srgbClr val="1F1F1F"/>
                </a:solidFill>
                <a:latin typeface="Pretendard"/>
              </a:rPr>
              <a:t>analyses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K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Process Flow — CONSORT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Assessed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29184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Randomized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076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8076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Allocated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2834640"/>
            <a:ext cx="2468880" cy="1325880"/>
          </a:xfrm>
          <a:prstGeom prst="roundRect">
            <a:avLst/>
          </a:prstGeom>
          <a:noFill/>
          <a:ln w="15875">
            <a:solidFill>
              <a:srgbClr val="00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9680" y="31546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spc="-18">
                <a:solidFill>
                  <a:srgbClr val="1F1F1F"/>
                </a:solidFill>
                <a:latin typeface="Pretendard"/>
              </a:rPr>
              <a:t>Analyzed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36118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spc="-16">
                <a:solidFill>
                  <a:srgbClr val="6B6B6B"/>
                </a:solidFill>
                <a:latin typeface="Pretendard"/>
              </a:rPr>
              <a:t>n = NN / NN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99008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ight Arrow 49"/>
          <p:cNvSpPr/>
          <p:nvPr/>
        </p:nvSpPr>
        <p:spPr>
          <a:xfrm>
            <a:off x="577900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ight Arrow 50"/>
          <p:cNvSpPr/>
          <p:nvPr/>
        </p:nvSpPr>
        <p:spPr>
          <a:xfrm>
            <a:off x="8567928" y="3364992"/>
            <a:ext cx="256032" cy="274320"/>
          </a:xfrm>
          <a:prstGeom prst="rightArrow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Down Arrow 51"/>
          <p:cNvSpPr/>
          <p:nvPr/>
        </p:nvSpPr>
        <p:spPr>
          <a:xfrm>
            <a:off x="4434840" y="4297680"/>
            <a:ext cx="201168" cy="320040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3291840" y="4663440"/>
            <a:ext cx="2468880" cy="868680"/>
          </a:xfrm>
          <a:prstGeom prst="roundRect">
            <a:avLst/>
          </a:prstGeom>
          <a:noFill/>
          <a:ln w="12700">
            <a:solidFill>
              <a:srgbClr val="6B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291840" y="48006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Excluded (n = NN)</a:t>
            </a:r>
          </a:p>
          <a:p>
            <a:pPr algn="ctr"/>
            <a:r>
              <a:rPr sz="1500" b="0" spc="-15">
                <a:solidFill>
                  <a:srgbClr val="6B6B6B"/>
                </a:solidFill>
                <a:latin typeface="Pretendard"/>
              </a:rPr>
              <a:t>– reason / criterion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-13">
                <a:solidFill>
                  <a:srgbClr val="8E8E93"/>
                </a:solidFill>
                <a:latin typeface="Pretendard"/>
              </a:rPr>
              <a:t>PATTERN L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32">
                <a:solidFill>
                  <a:srgbClr val="006241"/>
                </a:solidFill>
                <a:latin typeface="Pretendard"/>
              </a:rPr>
              <a:t>Text Block — one editable text 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spc="-11">
                <a:solidFill>
                  <a:srgbClr val="8E8E93"/>
                </a:solidFill>
                <a:latin typeface="Pretendard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 spc="-12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1554480"/>
            <a:ext cx="10881360" cy="4709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Primary point — the single message of this slide</a:t>
            </a: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Supporting line with a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key phrase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emphasised</a:t>
            </a:r>
          </a:p>
          <a:p>
            <a:pPr>
              <a:lnSpc>
                <a:spcPct val="55000"/>
              </a:lnSpc>
              <a:buNone/>
            </a:pPr>
            <a:endParaRPr sz="2800" b="0" spc="-28">
              <a:solidFill>
                <a:srgbClr val="1F1F1F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3200" b="0" spc="-32">
                <a:solidFill>
                  <a:srgbClr val="1F1F1F"/>
                </a:solidFill>
                <a:latin typeface="Pretendard"/>
              </a:rPr>
              <a:t>A larger line when one statement needs weight</a:t>
            </a:r>
          </a:p>
          <a:p>
            <a:pPr marL="685800" indent="-228600" lvl="1">
              <a:lnSpc>
                <a:spcPct val="112000"/>
              </a:lnSpc>
              <a:spcBef>
                <a:spcPts val="800"/>
              </a:spcBef>
              <a:buClr>
                <a:srgbClr val="6B6B6B"/>
              </a:buClr>
              <a:buSzPct val="78000"/>
              <a:buFont typeface="Arial"/>
              <a:buChar char="–"/>
            </a:pPr>
            <a:r>
              <a:rPr sz="2400" b="0" spc="-24">
                <a:solidFill>
                  <a:srgbClr val="6B6B6B"/>
                </a:solidFill>
                <a:latin typeface="Pretendard"/>
              </a:rPr>
              <a:t>secondary detail, one step down</a:t>
            </a:r>
          </a:p>
          <a:p>
            <a:pPr>
              <a:lnSpc>
                <a:spcPct val="55000"/>
              </a:lnSpc>
              <a:buNone/>
            </a:pPr>
            <a:endParaRPr sz="2400" b="0" spc="-24">
              <a:solidFill>
                <a:srgbClr val="6B6B6B"/>
              </a:solidFill>
              <a:latin typeface="Pretendard"/>
            </a:endParaRPr>
          </a:p>
          <a:p>
            <a:pPr marL="342900" indent="-342900">
              <a:lnSpc>
                <a:spcPct val="118000"/>
              </a:lnSpc>
              <a:spcBef>
                <a:spcPts val="1400"/>
              </a:spcBef>
              <a:buClr>
                <a:srgbClr val="00754A"/>
              </a:buClr>
              <a:buSzPct val="68000"/>
              <a:buFont typeface="Arial"/>
              <a:buChar char="●"/>
            </a:pPr>
            <a:r>
              <a:rPr sz="2800" b="0" spc="-28">
                <a:solidFill>
                  <a:srgbClr val="1F1F1F"/>
                </a:solidFill>
                <a:latin typeface="Pretendard"/>
              </a:rPr>
              <a:t>Closing point — </a:t>
            </a:r>
            <a:r>
              <a:rPr sz="2800" b="1" spc="-28">
                <a:solidFill>
                  <a:srgbClr val="00754A"/>
                </a:solidFill>
                <a:latin typeface="Pretendard"/>
              </a:rPr>
              <a:t>the conclusion</a:t>
            </a:r>
            <a:r>
              <a:rPr sz="2800" b="0" spc="-28">
                <a:solidFill>
                  <a:srgbClr val="1F1F1F"/>
                </a:solidFill>
                <a:latin typeface="Pretendard"/>
              </a:rPr>
              <a:t> in bold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t="21391" r="16358" b="11330"/>
          <a:stretch>
            <a:fillRect/>
          </a:stretch>
        </p:blipFill>
        <p:spPr>
          <a:xfrm>
            <a:off x="10748356" y="11978"/>
            <a:ext cx="1443644" cy="7985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72">
                <a:solidFill>
                  <a:srgbClr val="006241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 spc="-20">
                <a:solidFill>
                  <a:srgbClr val="6B6B6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500" b="0" i="0" spc="-15">
                <a:solidFill>
                  <a:srgbClr val="6B6B6B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200" b="1" i="0" spc="-22">
                <a:solidFill>
                  <a:srgbClr val="1F1F1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와이드스크린</PresentationFormat>
  <Paragraphs>232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Sangmin Park</cp:lastModifiedBy>
  <cp:revision>1</cp:revision>
  <dcterms:created xsi:type="dcterms:W3CDTF">2013-01-27T09:14:16Z</dcterms:created>
  <dcterms:modified xsi:type="dcterms:W3CDTF">2026-06-09T02:54:52Z</dcterms:modified>
  <cp:category/>
</cp:coreProperties>
</file>