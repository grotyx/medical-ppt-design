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58" y="6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gmin Park" userId="4d1078831f804aa8" providerId="LiveId" clId="{FD74ABD8-2DB4-4925-8651-47553808EDF3}"/>
    <pc:docChg chg="modSld">
      <pc:chgData name="Sangmin Park" userId="4d1078831f804aa8" providerId="LiveId" clId="{FD74ABD8-2DB4-4925-8651-47553808EDF3}" dt="2026-06-06T15:28:18.166" v="0" actId="14861"/>
      <pc:docMkLst>
        <pc:docMk/>
      </pc:docMkLst>
      <pc:sldChg chg="modSp mod">
        <pc:chgData name="Sangmin Park" userId="4d1078831f804aa8" providerId="LiveId" clId="{FD74ABD8-2DB4-4925-8651-47553808EDF3}" dt="2026-06-06T15:28:18.166" v="0" actId="14861"/>
        <pc:sldMkLst>
          <pc:docMk/>
          <pc:sldMk cId="0" sldId="259"/>
        </pc:sldMkLst>
        <pc:spChg chg="mod">
          <ac:chgData name="Sangmin Park" userId="4d1078831f804aa8" providerId="LiveId" clId="{FD74ABD8-2DB4-4925-8651-47553808EDF3}" dt="2026-06-06T15:28:18.166" v="0" actId="14861"/>
          <ac:spMkLst>
            <pc:docMk/>
            <pc:sldMk cId="0" sldId="259"/>
            <ac:spMk id="13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323990" y="0"/>
            <a:ext cx="5837529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1014984"/>
            <a:ext cx="3200400" cy="44805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31295"/>
            <a:ext cx="3200400" cy="2154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FFFFFF"/>
                </a:solidFill>
                <a:latin typeface="Pretendard"/>
              </a:rPr>
              <a:t>SNUBH  SPINE SURGERY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5617"/>
            <a:ext cx="11242822" cy="13632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</a:rPr>
              <a:t>Clinical Outcome
Analysis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247" y="3704874"/>
            <a:ext cx="8229600" cy="276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-18">
                <a:solidFill>
                  <a:srgbClr val="6B6B6B"/>
                </a:solidFill>
                <a:latin typeface="Pretendard"/>
              </a:rPr>
              <a:t>Study descriptor  |  Design / cohort tag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37503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76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0" i="0" spc="-18">
                <a:solidFill>
                  <a:srgbClr val="6B6B6B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77256"/>
            <a:ext cx="5029200" cy="4308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800" b="1" i="0" spc="-28">
                <a:solidFill>
                  <a:srgbClr val="006241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15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4206240"/>
            <a:ext cx="34747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0" b="1" i="0" spc="-200">
                <a:solidFill>
                  <a:srgbClr val="E8E5DF"/>
                </a:solidFill>
                <a:latin typeface="Pretendard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8898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19090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spc="-12">
                <a:solidFill>
                  <a:srgbClr val="FFFFFF"/>
                </a:solidFill>
                <a:latin typeface="Pretendard"/>
              </a:rPr>
              <a:t>SECTION 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 spc="-36">
                <a:solidFill>
                  <a:srgbClr val="006241"/>
                </a:solidFill>
                <a:latin typeface="Pretendard"/>
              </a:rPr>
              <a:t>Section title goes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80467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Section subtitle — short descriptive sentence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36161"/>
            <a:ext cx="137160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A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Single Chart — Full Width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652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spc="-17">
                <a:solidFill>
                  <a:srgbClr val="161616"/>
                </a:solidFill>
                <a:latin typeface="Pretendard"/>
              </a:rPr>
              <a:t>Outcome comparison across four metrics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10652760" cy="402336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589330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19" y="577900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88746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19" y="477316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8162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19" y="376732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87578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19" y="276148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869948"/>
            <a:ext cx="10652760" cy="91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19" y="175564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77213" y="3282696"/>
            <a:ext cx="585901" cy="2615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154554" y="3685031"/>
            <a:ext cx="585901" cy="221284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77314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40403" y="2759659"/>
            <a:ext cx="585901" cy="313822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817745" y="3403396"/>
            <a:ext cx="585901" cy="2494483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04050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03593" y="4208068"/>
            <a:ext cx="585901" cy="168981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480935" y="3886200"/>
            <a:ext cx="585901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0369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66783" y="2357323"/>
            <a:ext cx="585901" cy="35405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144125" y="2960827"/>
            <a:ext cx="585901" cy="29370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6688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0" y="6492240"/>
            <a:ext cx="182880" cy="164592"/>
          </a:xfrm>
          <a:prstGeom prst="rect">
            <a:avLst/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46720" y="64008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Intervention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0" y="6492240"/>
            <a:ext cx="182880" cy="164592"/>
          </a:xfrm>
          <a:prstGeom prst="rect">
            <a:avLst/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875520" y="64008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Comparator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B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KPI Tiles Row +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2900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2900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5780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Primary outcome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50475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50475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+8.4%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6315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56315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39195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2.1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9195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Pain score (6mo)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63891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63891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▼ 5.3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9731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69731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2611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3.5%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2611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Complication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7306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77306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vs 7.2%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3146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83146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66026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3.2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6026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Stay (days)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90722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90722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▼ 2.6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" y="2834640"/>
            <a:ext cx="11338560" cy="3337560"/>
          </a:xfrm>
          <a:prstGeom prst="roundRect">
            <a:avLst>
              <a:gd name="adj" fmla="val 2739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2940" y="297180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Supporting trend chart — pre- vs post-treatment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1074419" y="4706874"/>
            <a:ext cx="2560321" cy="560070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634740" y="4258818"/>
            <a:ext cx="2560320" cy="448056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195060" y="3922776"/>
            <a:ext cx="2560320" cy="336042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55380" y="3810761"/>
            <a:ext cx="2560320" cy="112015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561588" y="463372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121908" y="4185665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682228" y="3849624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1242548" y="3737609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 flipV="1">
            <a:off x="1074419" y="4818888"/>
            <a:ext cx="2560321" cy="448056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634740" y="4482846"/>
            <a:ext cx="2560320" cy="336042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195060" y="4258818"/>
            <a:ext cx="2560320" cy="224028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8755380" y="4101998"/>
            <a:ext cx="2560320" cy="156820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3561588" y="474573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6121908" y="4409694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682228" y="4185665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1242548" y="402884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2939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Baseline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2326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2 wk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8358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3 mo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4390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6 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0422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12 mo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C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Two-Column — Claim /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7220" y="1645920"/>
            <a:ext cx="586773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spc="-26">
                <a:solidFill>
                  <a:srgbClr val="161616"/>
                </a:solidFill>
                <a:latin typeface="Pretendard"/>
              </a:rPr>
              <a:t>Headline claim — the punchline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" y="23317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259" y="2331720"/>
            <a:ext cx="55476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spc="-18">
                <a:solidFill>
                  <a:srgbClr val="1F1F1F"/>
                </a:solidFill>
                <a:latin typeface="Pretendard"/>
              </a:rPr>
              <a:t>First supporting point with concise wording.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" y="2834639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259" y="2834639"/>
            <a:ext cx="55476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spc="-18">
                <a:solidFill>
                  <a:srgbClr val="1F1F1F"/>
                </a:solidFill>
                <a:latin typeface="Pretendard"/>
              </a:rPr>
              <a:t>Second supporting point with concrete numbers.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" y="3337559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259" y="3337559"/>
            <a:ext cx="55476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spc="-18">
                <a:solidFill>
                  <a:srgbClr val="1F1F1F"/>
                </a:solidFill>
                <a:latin typeface="Pretendard"/>
              </a:rPr>
              <a:t>Third supporting point with clinical relevance.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" y="5120640"/>
            <a:ext cx="6050612" cy="868680"/>
          </a:xfrm>
          <a:prstGeom prst="roundRect">
            <a:avLst>
              <a:gd name="adj" fmla="val 8421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59" y="5212079"/>
            <a:ext cx="57762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-14">
                <a:solidFill>
                  <a:srgbClr val="CBA258"/>
                </a:solidFill>
                <a:latin typeface="Pretendard"/>
              </a:rPr>
              <a:t>KEY TAKEAWAY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59" y="5486400"/>
            <a:ext cx="577629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spc="-17">
                <a:solidFill>
                  <a:srgbClr val="1F1F1F"/>
                </a:solidFill>
                <a:latin typeface="Pretendard"/>
              </a:rPr>
              <a:t>One-sentence clinical implication.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2152" y="1645920"/>
            <a:ext cx="4917250" cy="4663440"/>
          </a:xfrm>
          <a:prstGeom prst="roundRect">
            <a:avLst>
              <a:gd name="adj" fmla="val 1960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70752" y="1828800"/>
            <a:ext cx="446005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Evidence chart title</a:t>
            </a:r>
          </a:p>
        </p:txBody>
      </p:sp>
      <p:sp>
        <p:nvSpPr>
          <p:cNvPr id="19" name="Oval 18"/>
          <p:cNvSpPr/>
          <p:nvPr/>
        </p:nvSpPr>
        <p:spPr>
          <a:xfrm>
            <a:off x="8394937" y="3200399"/>
            <a:ext cx="2011680" cy="2011680"/>
          </a:xfrm>
          <a:prstGeom prst="ellipse">
            <a:avLst/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806417" y="3611879"/>
            <a:ext cx="1188720" cy="1188720"/>
          </a:xfrm>
          <a:prstGeom prst="ellipse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23537" y="3886200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74%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5032" y="5394959"/>
            <a:ext cx="455149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Primary outcome  (12 months)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D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Three KPI Tiles +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2900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2900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5780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PRIMARY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Achieved at 12 months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2694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42694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25574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574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574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Zero adverse events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42488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42488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5368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SATISFACTION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368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4.6 /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368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Patient-reported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" y="3246120"/>
            <a:ext cx="11338560" cy="2926080"/>
          </a:xfrm>
          <a:prstGeom prst="roundRect">
            <a:avLst>
              <a:gd name="adj" fmla="val 3125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" y="3383279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Supporting comparison chart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0204" y="4347057"/>
            <a:ext cx="1383030" cy="118506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65884" y="4072737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72%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58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54804" y="4626864"/>
            <a:ext cx="1383030" cy="9052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80484" y="4352544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55%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04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69404" y="4149547"/>
            <a:ext cx="1383030" cy="138257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95084" y="3875227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84%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50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4005" y="4824374"/>
            <a:ext cx="1383030" cy="707745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09685" y="4550054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43%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09685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E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Full-Width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4340" y="1280160"/>
            <a:ext cx="11338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spc="-17">
                <a:solidFill>
                  <a:srgbClr val="161616"/>
                </a:solidFill>
                <a:latin typeface="Pretendard"/>
              </a:rPr>
              <a:t>Outcome comparison — Intervention vs Comparator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" y="164592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7220" y="164592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Outcome 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1939" y="16459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Intervention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2420" y="16459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Comparator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" y="214884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" y="214884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Primary 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1939" y="21488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12.4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2420" y="21488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13.1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" y="265176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" y="265176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Pain score (6mo)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1939" y="26517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2420" y="26517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087100" y="2784348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087100" y="278434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" y="315468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220" y="315468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Quality of life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1939" y="31546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0.82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2420" y="31546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0.79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" y="365760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7220" y="365760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Complication 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1939" y="365760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3.5%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2420" y="365760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7.2%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87100" y="3790187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087100" y="379018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4340" y="416052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7220" y="416052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Hospital stay (days)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1939" y="41605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3.2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2420" y="41605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5.8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87100" y="4293108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087100" y="429310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" y="466344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17220" y="466344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Return to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91939" y="46634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21d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32420" y="46634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34d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87100" y="4796027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87100" y="479602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4340" y="516636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7220" y="516636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Satisfaction (1-5)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91939" y="51663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32420" y="51663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F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Stacked Insight 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4340" y="1508760"/>
            <a:ext cx="11338560" cy="1188720"/>
          </a:xfrm>
          <a:prstGeom prst="roundRect">
            <a:avLst>
              <a:gd name="adj" fmla="val 7692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7220" y="1691639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CBA258"/>
                </a:solidFill>
                <a:latin typeface="Pretendard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01168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spc="-26">
                <a:solidFill>
                  <a:srgbClr val="1F1F1F"/>
                </a:solidFill>
                <a:latin typeface="Pretendard"/>
              </a:rPr>
              <a:t>A single sentence stating the primary takeaway.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" y="2880360"/>
            <a:ext cx="11338560" cy="2194560"/>
          </a:xfrm>
          <a:prstGeom prst="roundRect">
            <a:avLst>
              <a:gd name="adj" fmla="val 416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7220" y="3017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Supporting 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3879341"/>
            <a:ext cx="548640" cy="921257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194560" y="4205325"/>
            <a:ext cx="548640" cy="59527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173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695090"/>
            <a:ext cx="548640" cy="1105509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37759" y="4021074"/>
            <a:ext cx="548640" cy="779525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605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4162806"/>
            <a:ext cx="548640" cy="637793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680960" y="3921861"/>
            <a:ext cx="548640" cy="87873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037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3553358"/>
            <a:ext cx="548640" cy="124724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424160" y="3794302"/>
            <a:ext cx="548640" cy="1006297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46919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" y="5257800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7220" y="5422392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</a:rPr>
              <a:t>CLINICAL IMPLICATION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" y="57607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spc="-20">
                <a:solidFill>
                  <a:srgbClr val="161616"/>
                </a:solidFill>
                <a:latin typeface="Pretendard"/>
              </a:rPr>
              <a:t>How this changes clinical practice, in one or two lines.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G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1460" y="219456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6241"/>
                </a:solidFill>
                <a:latin typeface="Pretendard"/>
              </a:rPr>
              <a:t>One bold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" y="315468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6241"/>
                </a:solidFill>
                <a:latin typeface="Pretendard"/>
              </a:rPr>
              <a:t>One strong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" y="411480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754A"/>
                </a:solidFill>
                <a:latin typeface="Pretendard"/>
              </a:rPr>
              <a:t>One clear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" y="5623560"/>
            <a:ext cx="116997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 spc="-18">
                <a:solidFill>
                  <a:srgbClr val="7A7A7A"/>
                </a:solidFill>
                <a:latin typeface="Pretendard"/>
              </a:rPr>
              <a:t>Sub-line — short italic descriptor that complements the big lines above.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H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Pillar Cards — multi-dimensional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434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434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34182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4182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Outcome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Achieved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27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7927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18675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8675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TWO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15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15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Safety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15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420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2420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03168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3168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THREE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08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94.9%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708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Value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708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669280"/>
            <a:ext cx="11201400" cy="685800"/>
          </a:xfrm>
          <a:prstGeom prst="roundRect">
            <a:avLst>
              <a:gd name="adj" fmla="val 13333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5669280"/>
            <a:ext cx="108356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spc="-20">
                <a:solidFill>
                  <a:srgbClr val="1F1F1F"/>
                </a:solidFill>
                <a:latin typeface="Pretendard"/>
              </a:rPr>
              <a:t>Unified take-home sentence linking the three pillars.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I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Forest Plot — Equivalence margin band visible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1201400" cy="2011680"/>
          </a:xfrm>
          <a:prstGeom prst="roundRect">
            <a:avLst>
              <a:gd name="adj" fmla="val 363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73152" cy="201168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673351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spc="-24">
                <a:solidFill>
                  <a:srgbClr val="161616"/>
                </a:solidFill>
                <a:latin typeface="Pretendard"/>
              </a:rPr>
              <a:t>Trial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23160"/>
            <a:ext cx="10972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423160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Cohort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 spc="-17">
                <a:solidFill>
                  <a:srgbClr val="7A7A7A"/>
                </a:solidFill>
                <a:latin typeface="Pretendard"/>
              </a:rPr>
              <a:t>n = 87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57244" y="210312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49928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897160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76288" y="210312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17870" y="2478024"/>
            <a:ext cx="2409443" cy="7315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06897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16341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Diamond 20"/>
          <p:cNvSpPr/>
          <p:nvPr/>
        </p:nvSpPr>
        <p:spPr>
          <a:xfrm>
            <a:off x="6885432" y="2377440"/>
            <a:ext cx="274320" cy="274320"/>
          </a:xfrm>
          <a:prstGeom prst="diamond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9718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484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1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8716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737360"/>
            <a:ext cx="7086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spc="-20">
                <a:solidFill>
                  <a:srgbClr val="00754A"/>
                </a:solidFill>
                <a:latin typeface="Pretendard"/>
              </a:rPr>
              <a:t>+0.6 (95% CI -4.5 to +5.7)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07040" y="2331720"/>
            <a:ext cx="91440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07040" y="23317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p = 0.82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703320"/>
            <a:ext cx="11201400" cy="2011680"/>
          </a:xfrm>
          <a:prstGeom prst="roundRect">
            <a:avLst>
              <a:gd name="adj" fmla="val 363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02920" y="3703320"/>
            <a:ext cx="73152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3867911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spc="-24">
                <a:solidFill>
                  <a:srgbClr val="161616"/>
                </a:solidFill>
                <a:latin typeface="Pretendard"/>
              </a:rPr>
              <a:t>Trial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23367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617720"/>
            <a:ext cx="10972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617720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Cohort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5960" y="4617720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 spc="-17">
                <a:solidFill>
                  <a:srgbClr val="7A7A7A"/>
                </a:solidFill>
                <a:latin typeface="Pretendard"/>
              </a:rPr>
              <a:t>n = 106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57244" y="429768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849928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897160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876288" y="429768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518660" y="4672584"/>
            <a:ext cx="2598420" cy="731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50768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10610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Diamond 43"/>
          <p:cNvSpPr/>
          <p:nvPr/>
        </p:nvSpPr>
        <p:spPr>
          <a:xfrm>
            <a:off x="5562600" y="4572000"/>
            <a:ext cx="274320" cy="274320"/>
          </a:xfrm>
          <a:prstGeom prst="diamond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9718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1484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51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38716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3931920"/>
            <a:ext cx="7086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spc="-20">
                <a:solidFill>
                  <a:srgbClr val="006241"/>
                </a:solidFill>
                <a:latin typeface="Pretendard"/>
              </a:rPr>
              <a:t>-5.0 (95% CI -10 to +1)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607040" y="4526280"/>
            <a:ext cx="91440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607040" y="45262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p = 0.12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58521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Mean difference  (Intervention − Comparator)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6172200"/>
            <a:ext cx="11201400" cy="365760"/>
          </a:xfrm>
          <a:prstGeom prst="roundRect">
            <a:avLst>
              <a:gd name="adj" fmla="val 12500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85800" y="6172200"/>
            <a:ext cx="10835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spc="-17">
                <a:solidFill>
                  <a:srgbClr val="1F1F1F"/>
                </a:solidFill>
                <a:latin typeface="Pretendard"/>
              </a:rPr>
              <a:t>✓  Both 95% CIs lie within the ±12.8 equivalence margin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28600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200" b="1" i="0" spc="-72">
                <a:solidFill>
                  <a:srgbClr val="006241"/>
                </a:solidFill>
                <a:latin typeface="Pretendard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 spc="-20">
                <a:solidFill>
                  <a:srgbClr val="6B6B6B"/>
                </a:solidFill>
                <a:latin typeface="Pretendard"/>
              </a:rPr>
              <a:t>Questions and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572000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66503" y="5102352"/>
            <a:ext cx="45720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500" b="0" i="0" spc="-15">
                <a:solidFill>
                  <a:srgbClr val="6B6B6B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6503" y="5477621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200" b="1" i="0" spc="-22">
                <a:solidFill>
                  <a:srgbClr val="1F1F1F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216" y="6378122"/>
            <a:ext cx="73152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J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Timeline — Milestone 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54480" y="3310128"/>
            <a:ext cx="9052560" cy="3200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453895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39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Single-center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pilot</a:t>
            </a:r>
          </a:p>
        </p:txBody>
      </p:sp>
      <p:sp>
        <p:nvSpPr>
          <p:cNvPr id="41" name="Oval 40"/>
          <p:cNvSpPr/>
          <p:nvPr/>
        </p:nvSpPr>
        <p:spPr>
          <a:xfrm>
            <a:off x="3717035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11779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0339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Multicenter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protocol</a:t>
            </a:r>
          </a:p>
        </p:txBody>
      </p:sp>
      <p:sp>
        <p:nvSpPr>
          <p:cNvPr id="44" name="Oval 43"/>
          <p:cNvSpPr/>
          <p:nvPr/>
        </p:nvSpPr>
        <p:spPr>
          <a:xfrm>
            <a:off x="598017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7492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348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First RCT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enrolment</a:t>
            </a:r>
          </a:p>
        </p:txBody>
      </p:sp>
      <p:sp>
        <p:nvSpPr>
          <p:cNvPr id="47" name="Oval 46"/>
          <p:cNvSpPr/>
          <p:nvPr/>
        </p:nvSpPr>
        <p:spPr>
          <a:xfrm>
            <a:off x="824331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3806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4662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Two RCTs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completed</a:t>
            </a:r>
          </a:p>
        </p:txBody>
      </p:sp>
      <p:sp>
        <p:nvSpPr>
          <p:cNvPr id="50" name="Oval 49"/>
          <p:cNvSpPr/>
          <p:nvPr/>
        </p:nvSpPr>
        <p:spPr>
          <a:xfrm>
            <a:off x="1050645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0976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Pooled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analyses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K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Process Flow — CONSORT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Assessed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184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9184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Randomized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8076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6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Allocated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 / NN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6968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86968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Analyzed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 / NN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299008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ight Arrow 49"/>
          <p:cNvSpPr/>
          <p:nvPr/>
        </p:nvSpPr>
        <p:spPr>
          <a:xfrm>
            <a:off x="577900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ight Arrow 50"/>
          <p:cNvSpPr/>
          <p:nvPr/>
        </p:nvSpPr>
        <p:spPr>
          <a:xfrm>
            <a:off x="856792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own Arrow 51"/>
          <p:cNvSpPr/>
          <p:nvPr/>
        </p:nvSpPr>
        <p:spPr>
          <a:xfrm>
            <a:off x="4434840" y="4297680"/>
            <a:ext cx="201168" cy="320040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3291840" y="4663440"/>
            <a:ext cx="2468880" cy="868680"/>
          </a:xfrm>
          <a:prstGeom prst="roundRect">
            <a:avLst/>
          </a:prstGeom>
          <a:noFill/>
          <a:ln w="1270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91840" y="48006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spc="-15">
                <a:solidFill>
                  <a:srgbClr val="6B6B6B"/>
                </a:solidFill>
                <a:latin typeface="Pretendard"/>
              </a:rPr>
              <a:t>Excluded (n = NN)</a:t>
            </a:r>
          </a:p>
          <a:p>
            <a:pPr algn="ctr"/>
            <a:r>
              <a:rPr sz="1500" b="0" spc="-15">
                <a:solidFill>
                  <a:srgbClr val="6B6B6B"/>
                </a:solidFill>
                <a:latin typeface="Pretendard"/>
              </a:rPr>
              <a:t>– reason / criterion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L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Text Block — one editable text frame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1554480"/>
            <a:ext cx="10881360" cy="4709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2800" b="0" spc="-28">
                <a:solidFill>
                  <a:srgbClr val="1F1F1F"/>
                </a:solidFill>
                <a:latin typeface="Pretendard"/>
              </a:rPr>
              <a:t>Primary point — the single message of this slide</a:t>
            </a:r>
          </a:p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2800" b="0" spc="-28">
                <a:solidFill>
                  <a:srgbClr val="1F1F1F"/>
                </a:solidFill>
                <a:latin typeface="Pretendard"/>
              </a:rPr>
              <a:t>Supporting line with a </a:t>
            </a:r>
            <a:r>
              <a:rPr sz="2800" b="1" spc="-28">
                <a:solidFill>
                  <a:srgbClr val="00754A"/>
                </a:solidFill>
                <a:latin typeface="Pretendard"/>
              </a:rPr>
              <a:t>key phrase</a:t>
            </a:r>
            <a:r>
              <a:rPr sz="2800" b="0" spc="-28">
                <a:solidFill>
                  <a:srgbClr val="1F1F1F"/>
                </a:solidFill>
                <a:latin typeface="Pretendard"/>
              </a:rPr>
              <a:t> emphasised</a:t>
            </a:r>
          </a:p>
          <a:p>
            <a:pPr>
              <a:lnSpc>
                <a:spcPct val="55000"/>
              </a:lnSpc>
              <a:buNone/>
            </a:pPr>
          </a:p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3200" b="0" spc="-32">
                <a:solidFill>
                  <a:srgbClr val="1F1F1F"/>
                </a:solidFill>
                <a:latin typeface="Pretendard"/>
              </a:rPr>
              <a:t>A larger line when one statement needs weight</a:t>
            </a:r>
          </a:p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2400" b="0" spc="-24">
                <a:solidFill>
                  <a:srgbClr val="6B6B6B"/>
                </a:solidFill>
                <a:latin typeface="Pretendard"/>
              </a:rPr>
              <a:t>secondary detail, one step down</a:t>
            </a:r>
          </a:p>
          <a:p>
            <a:pPr>
              <a:lnSpc>
                <a:spcPct val="55000"/>
              </a:lnSpc>
              <a:buNone/>
            </a:pPr>
          </a:p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2800" b="0" spc="-28">
                <a:solidFill>
                  <a:srgbClr val="1F1F1F"/>
                </a:solidFill>
                <a:latin typeface="Pretendard"/>
              </a:rPr>
              <a:t>Closing point — </a:t>
            </a:r>
            <a:r>
              <a:rPr sz="2800" b="1" spc="-28">
                <a:solidFill>
                  <a:srgbClr val="00754A"/>
                </a:solidFill>
                <a:latin typeface="Pretendard"/>
              </a:rPr>
              <a:t>the conclusion</a:t>
            </a:r>
            <a:r>
              <a:rPr sz="2800" b="0" spc="-28">
                <a:solidFill>
                  <a:srgbClr val="1F1F1F"/>
                </a:solidFill>
                <a:latin typeface="Pretendard"/>
              </a:rPr>
              <a:t> in bold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592</Words>
  <Application>Microsoft Office PowerPoint</Application>
  <PresentationFormat>와이드스크린</PresentationFormat>
  <Paragraphs>187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Pretendard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Sangmin Park</cp:lastModifiedBy>
  <cp:revision>1</cp:revision>
  <dcterms:created xsi:type="dcterms:W3CDTF">2013-01-27T09:14:16Z</dcterms:created>
  <dcterms:modified xsi:type="dcterms:W3CDTF">2026-06-06T15:28:25Z</dcterms:modified>
  <cp:category/>
</cp:coreProperties>
</file>