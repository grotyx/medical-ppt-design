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5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min Park" userId="4d1078831f804aa8" providerId="LiveId" clId="{FD74ABD8-2DB4-4925-8651-47553808EDF3}"/>
    <pc:docChg chg="modSld">
      <pc:chgData name="Sangmin Park" userId="4d1078831f804aa8" providerId="LiveId" clId="{FD74ABD8-2DB4-4925-8651-47553808EDF3}" dt="2026-06-06T15:28:18.166" v="0" actId="14861"/>
      <pc:docMkLst>
        <pc:docMk/>
      </pc:docMkLst>
      <pc:sldChg chg="modSp mod">
        <pc:chgData name="Sangmin Park" userId="4d1078831f804aa8" providerId="LiveId" clId="{FD74ABD8-2DB4-4925-8651-47553808EDF3}" dt="2026-06-06T15:28:18.166" v="0" actId="14861"/>
        <pc:sldMkLst>
          <pc:docMk/>
          <pc:sldMk cId="0" sldId="259"/>
        </pc:sldMkLst>
        <pc:spChg chg="mod">
          <ac:chgData name="Sangmin Park" userId="4d1078831f804aa8" providerId="LiveId" clId="{FD74ABD8-2DB4-4925-8651-47553808EDF3}" dt="2026-06-06T15:28:18.166" v="0" actId="14861"/>
          <ac:spMkLst>
            <pc:docMk/>
            <pc:sldMk cId="0" sldId="259"/>
            <ac:spMk id="13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3990" y="0"/>
            <a:ext cx="5837529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014984"/>
            <a:ext cx="3200400" cy="448056"/>
          </a:xfrm>
          <a:prstGeom prst="roundRect">
            <a:avLst>
              <a:gd name="adj" fmla="val 50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31295"/>
            <a:ext cx="3200400" cy="215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FFFFFF"/>
                </a:solidFill>
                <a:latin typeface="Pretendard"/>
              </a:rPr>
              <a:t>SNUBH  SPINE SURGERY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5617"/>
            <a:ext cx="11242822" cy="1363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 spc="-40">
                <a:solidFill>
                  <a:srgbClr val="006241"/>
                </a:solidFill>
                <a:latin typeface="Pretendard"/>
              </a:rPr>
              <a:t>Clinical Outcome
Analysis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47" y="3704874"/>
            <a:ext cx="8229600" cy="27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spc="-18">
                <a:solidFill>
                  <a:srgbClr val="6B6B6B"/>
                </a:solidFill>
                <a:latin typeface="Pretendard"/>
              </a:rPr>
              <a:t>Study descriptor  |  Design / cohort 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37503"/>
            <a:ext cx="164592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66229" y="5102352"/>
            <a:ext cx="5029200" cy="27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0" i="0" spc="-18">
                <a:solidFill>
                  <a:srgbClr val="6B6B6B"/>
                </a:solidFill>
                <a:latin typeface="Pretendard"/>
              </a:rPr>
              <a:t>Seoul National Univ. Bundang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6229" y="5477256"/>
            <a:ext cx="5029200" cy="43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800" b="1" i="0" spc="-28">
                <a:solidFill>
                  <a:srgbClr val="006241"/>
                </a:solidFill>
                <a:latin typeface="Pretendard"/>
              </a:rPr>
              <a:t>Sang-Min Park, MD, PhD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216" y="6378122"/>
            <a:ext cx="7315200" cy="21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Conference name   |   YYYY.MM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88836" y="0"/>
            <a:ext cx="5472684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420624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 spc="-200">
                <a:solidFill>
                  <a:srgbClr val="E8E5DF"/>
                </a:solidFill>
                <a:latin typeface="Pretendard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889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9090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-12">
                <a:solidFill>
                  <a:srgbClr val="FFFFFF"/>
                </a:solidFill>
                <a:latin typeface="Pretendard"/>
              </a:rPr>
              <a:t>SECTION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 spc="-36">
                <a:solidFill>
                  <a:srgbClr val="006241"/>
                </a:solidFill>
                <a:latin typeface="Pretendard"/>
              </a:rPr>
              <a:t>Section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Section subtitle — short descriptive sentence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36161"/>
            <a:ext cx="137160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A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Single Chart — Full 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52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spc="-17">
                <a:solidFill>
                  <a:srgbClr val="161616"/>
                </a:solidFill>
                <a:latin typeface="Pretendard"/>
              </a:rPr>
              <a:t>Outcome comparison across four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0652760" cy="402336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89330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19" y="57790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spc="-14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8746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19" y="477316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spc="-14">
                <a:solidFill>
                  <a:srgbClr val="7A7A7A"/>
                </a:solidFill>
                <a:latin typeface="Pretendard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8162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19" y="37673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spc="-14">
                <a:solidFill>
                  <a:srgbClr val="7A7A7A"/>
                </a:solidFill>
                <a:latin typeface="Pretendard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75788"/>
            <a:ext cx="10652760" cy="9144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19" y="276148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spc="-14">
                <a:solidFill>
                  <a:srgbClr val="7A7A7A"/>
                </a:solidFill>
                <a:latin typeface="Pretendard"/>
              </a:rPr>
              <a:t>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869948"/>
            <a:ext cx="10652760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19" y="175564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spc="-14">
                <a:solidFill>
                  <a:srgbClr val="7A7A7A"/>
                </a:solidFill>
                <a:latin typeface="Pretendard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7213" y="3282696"/>
            <a:ext cx="585901" cy="2615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54554" y="3685031"/>
            <a:ext cx="585901" cy="2212848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7314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-16">
                <a:solidFill>
                  <a:srgbClr val="7A7A7A"/>
                </a:solidFill>
                <a:latin typeface="Pretendard"/>
              </a:rPr>
              <a:t>Metric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0403" y="2759659"/>
            <a:ext cx="585901" cy="313822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17745" y="3403396"/>
            <a:ext cx="585901" cy="2494483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4050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-16">
                <a:solidFill>
                  <a:srgbClr val="7A7A7A"/>
                </a:solidFill>
                <a:latin typeface="Pretendard"/>
              </a:rPr>
              <a:t>Metric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03593" y="4208068"/>
            <a:ext cx="585901" cy="1689811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80935" y="3886200"/>
            <a:ext cx="585901" cy="201168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0369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-16">
                <a:solidFill>
                  <a:srgbClr val="7A7A7A"/>
                </a:solidFill>
                <a:latin typeface="Pretendard"/>
              </a:rPr>
              <a:t>Metric 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6783" y="2357323"/>
            <a:ext cx="585901" cy="354055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44125" y="2960827"/>
            <a:ext cx="585901" cy="293705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66885" y="5989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spc="-16">
                <a:solidFill>
                  <a:srgbClr val="7A7A7A"/>
                </a:solidFill>
                <a:latin typeface="Pretendard"/>
              </a:rPr>
              <a:t>Metric 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6492240"/>
            <a:ext cx="182880" cy="164592"/>
          </a:xfrm>
          <a:prstGeom prst="rect">
            <a:avLst/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6400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Intervention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6492240"/>
            <a:ext cx="182880" cy="164592"/>
          </a:xfrm>
          <a:prstGeom prst="rect">
            <a:avLst/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6400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Comparator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B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KPI Tiles Row +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 spc="-40">
                <a:solidFill>
                  <a:srgbClr val="006241"/>
                </a:solidFill>
                <a:latin typeface="Pretendard"/>
              </a:rPr>
              <a:t>76.3%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Primary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0475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50475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+8.4%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6315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56315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9195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 spc="-40">
                <a:solidFill>
                  <a:srgbClr val="006241"/>
                </a:solidFill>
                <a:latin typeface="Pretendard"/>
              </a:rPr>
              <a:t>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9195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Pain score (6mo)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3891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3891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▼ 5.3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9731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9731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2611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 spc="-40">
                <a:solidFill>
                  <a:srgbClr val="006241"/>
                </a:solidFill>
                <a:latin typeface="Pretendard"/>
              </a:rPr>
              <a:t>3.5%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2611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Complication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7306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77306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vs 7.2%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3146" y="1417320"/>
            <a:ext cx="2776255" cy="1188720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83146" y="1417320"/>
            <a:ext cx="2776255" cy="548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66026" y="1581912"/>
            <a:ext cx="24104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 spc="-40">
                <a:solidFill>
                  <a:srgbClr val="006241"/>
                </a:solidFill>
                <a:latin typeface="Pretendard"/>
              </a:rPr>
              <a:t>3.2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6026" y="2148840"/>
            <a:ext cx="2410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Stay (days)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90722" y="1600200"/>
            <a:ext cx="73152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90722" y="160020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▼ 2.6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" y="2834640"/>
            <a:ext cx="11338560" cy="3337560"/>
          </a:xfrm>
          <a:prstGeom prst="roundRect">
            <a:avLst>
              <a:gd name="adj" fmla="val 2739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" y="29718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-16">
                <a:solidFill>
                  <a:srgbClr val="161616"/>
                </a:solidFill>
                <a:latin typeface="Pretendard"/>
              </a:rPr>
              <a:t>Supporting trend chart — pre- vs post-treatment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74419" y="4706874"/>
            <a:ext cx="2560321" cy="560070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34740" y="4258818"/>
            <a:ext cx="2560320" cy="448056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195060" y="3922776"/>
            <a:ext cx="2560320" cy="336042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55380" y="3810761"/>
            <a:ext cx="2560320" cy="112015"/>
          </a:xfrm>
          <a:prstGeom prst="line">
            <a:avLst/>
          </a:prstGeom>
          <a:ln w="38100">
            <a:solidFill>
              <a:srgbClr val="007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01267" y="5193792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61588" y="4633722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121908" y="4185665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82228" y="3849624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42548" y="3737609"/>
            <a:ext cx="146304" cy="146304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V="1">
            <a:off x="1074419" y="4818888"/>
            <a:ext cx="2560321" cy="448056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634740" y="4482846"/>
            <a:ext cx="2560320" cy="336042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195060" y="4258818"/>
            <a:ext cx="2560320" cy="224028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55380" y="4101998"/>
            <a:ext cx="2560320" cy="156820"/>
          </a:xfrm>
          <a:prstGeom prst="line">
            <a:avLst/>
          </a:prstGeom>
          <a:ln w="38100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01267" y="5193792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561588" y="4745736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121908" y="4409694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682228" y="4185665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42548" y="4028846"/>
            <a:ext cx="146304" cy="146304"/>
          </a:xfrm>
          <a:prstGeom prst="ellipse">
            <a:avLst/>
          </a:prstGeom>
          <a:solidFill>
            <a:srgbClr val="0062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39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Baseline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2326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2 wk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8358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3 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390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6 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04220" y="580644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12 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C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Two-Column — Claim /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5780" y="5120640"/>
            <a:ext cx="6050612" cy="868680"/>
          </a:xfrm>
          <a:prstGeom prst="roundRect">
            <a:avLst>
              <a:gd name="adj" fmla="val 8421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59" y="5212079"/>
            <a:ext cx="57762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-14">
                <a:solidFill>
                  <a:srgbClr val="CBA258"/>
                </a:solidFill>
                <a:latin typeface="Pretendard"/>
              </a:rP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" y="5486400"/>
            <a:ext cx="57762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spc="-17">
                <a:solidFill>
                  <a:srgbClr val="1F1F1F"/>
                </a:solidFill>
                <a:latin typeface="Pretendard"/>
              </a:rPr>
              <a:t>One-sentence clinical implication.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2152" y="1645920"/>
            <a:ext cx="4917250" cy="4663440"/>
          </a:xfrm>
          <a:prstGeom prst="roundRect">
            <a:avLst>
              <a:gd name="adj" fmla="val 1960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0752" y="1828800"/>
            <a:ext cx="4460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-16">
                <a:solidFill>
                  <a:srgbClr val="161616"/>
                </a:solidFill>
                <a:latin typeface="Pretendard"/>
              </a:rPr>
              <a:t>Evidence chart title</a:t>
            </a:r>
          </a:p>
        </p:txBody>
      </p:sp>
      <p:sp>
        <p:nvSpPr>
          <p:cNvPr id="19" name="Oval 18"/>
          <p:cNvSpPr/>
          <p:nvPr/>
        </p:nvSpPr>
        <p:spPr>
          <a:xfrm>
            <a:off x="8394937" y="3200399"/>
            <a:ext cx="2011680" cy="2011680"/>
          </a:xfrm>
          <a:prstGeom prst="ellipse">
            <a:avLst/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06417" y="3611879"/>
            <a:ext cx="1188720" cy="1188720"/>
          </a:xfrm>
          <a:prstGeom prst="ellipse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3537" y="388620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5032" y="5394959"/>
            <a:ext cx="455149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Primary outcome  (12 months)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1645920"/>
            <a:ext cx="5870448" cy="3246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600" b="1" spc="-26">
                <a:solidFill>
                  <a:srgbClr val="1F1F1F"/>
                </a:solidFill>
                <a:latin typeface="Pretendard"/>
              </a:rPr>
              <a:t>Headline claim — the punchline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>
                <a:solidFill>
                  <a:srgbClr val="1F1F1F"/>
                </a:solidFill>
                <a:latin typeface="Pretendard"/>
              </a:rPr>
              <a:t>First supporting point with concise wording.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>
                <a:solidFill>
                  <a:srgbClr val="1F1F1F"/>
                </a:solidFill>
                <a:latin typeface="Pretendard"/>
              </a:rPr>
              <a:t>Second supporting point with concrete numbers.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>
                <a:solidFill>
                  <a:srgbClr val="1F1F1F"/>
                </a:solidFill>
                <a:latin typeface="Pretendard"/>
              </a:rPr>
              <a:t>Third supporting point with clinical relevance.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5870448" cy="3246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600" b="1" spc="-26" dirty="0">
                <a:solidFill>
                  <a:srgbClr val="1F1F1F"/>
                </a:solidFill>
                <a:latin typeface="Pretendard"/>
              </a:rPr>
              <a:t>Headline claim — the punchline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 dirty="0">
                <a:solidFill>
                  <a:srgbClr val="1F1F1F"/>
                </a:solidFill>
                <a:latin typeface="Pretendard"/>
              </a:rPr>
              <a:t>First supporting point with concise wording.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 dirty="0">
                <a:solidFill>
                  <a:srgbClr val="1F1F1F"/>
                </a:solidFill>
                <a:latin typeface="Pretendard"/>
              </a:rPr>
              <a:t>Second supporting point with concrete numbers.</a:t>
            </a:r>
          </a:p>
          <a:p>
            <a:pPr marL="320040" indent="-320040">
              <a:lnSpc>
                <a:spcPct val="112000"/>
              </a:lnSpc>
              <a:spcBef>
                <a:spcPts val="12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1800" b="0" spc="-18" dirty="0">
                <a:solidFill>
                  <a:srgbClr val="1F1F1F"/>
                </a:solidFill>
                <a:latin typeface="Pretendard"/>
              </a:rPr>
              <a:t>Third supporting point with clinical relevance.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D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Three KPI Tiles +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-15">
                <a:solidFill>
                  <a:srgbClr val="00754A"/>
                </a:solidFill>
                <a:latin typeface="Pretendard"/>
              </a:rPr>
              <a:t>PRIMARY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76.3%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Achieved at 12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694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42694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5574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-15">
                <a:solidFill>
                  <a:srgbClr val="00754A"/>
                </a:solidFill>
                <a:latin typeface="Pretendard"/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574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574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Zero adverse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2488" y="1508760"/>
            <a:ext cx="3716914" cy="1417320"/>
          </a:xfrm>
          <a:prstGeom prst="roundRect">
            <a:avLst>
              <a:gd name="adj" fmla="val 6451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42488" y="1508760"/>
            <a:ext cx="3716914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5368" y="1691639"/>
            <a:ext cx="335115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-15">
                <a:solidFill>
                  <a:srgbClr val="00754A"/>
                </a:solidFill>
                <a:latin typeface="Pretendard"/>
              </a:rPr>
              <a:t>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368" y="1965960"/>
            <a:ext cx="335115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 spc="-40">
                <a:solidFill>
                  <a:srgbClr val="006241"/>
                </a:solidFill>
                <a:latin typeface="Pretendard"/>
              </a:rPr>
              <a:t>4.6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368" y="2560320"/>
            <a:ext cx="335115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Patient-reported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" y="3246120"/>
            <a:ext cx="11338560" cy="2926080"/>
          </a:xfrm>
          <a:prstGeom prst="roundRect">
            <a:avLst>
              <a:gd name="adj" fmla="val 3125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" y="3383279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-16">
                <a:solidFill>
                  <a:srgbClr val="161616"/>
                </a:solidFill>
                <a:latin typeface="Pretendard"/>
              </a:rPr>
              <a:t>Supporting comparison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0204" y="4347057"/>
            <a:ext cx="1383030" cy="118506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5884" y="4072737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58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Group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4804" y="4626864"/>
            <a:ext cx="1383030" cy="90525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0484" y="4352544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</a:rPr>
              <a:t>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04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Group 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9404" y="4149547"/>
            <a:ext cx="1383030" cy="138257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95084" y="3875227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</a:rPr>
              <a:t>84%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5084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Group 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4005" y="4824374"/>
            <a:ext cx="1383030" cy="707745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09685" y="4550054"/>
            <a:ext cx="193167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</a:rPr>
              <a:t>43%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9685" y="5577840"/>
            <a:ext cx="19316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Group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Full-Width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" y="1280160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spc="-17">
                <a:solidFill>
                  <a:srgbClr val="161616"/>
                </a:solidFill>
                <a:latin typeface="Pretendard"/>
              </a:rPr>
              <a:t>Outcome comparison — Intervention vs Comparator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" y="164592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" y="16459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Outcome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1939" y="16459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</a:rPr>
              <a:t>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2420" y="16459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006241"/>
                </a:solidFill>
                <a:latin typeface="Pretendard"/>
              </a:rPr>
              <a:t>Comparator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" y="214884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" y="21488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Primary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1939" y="21488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12.4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2420" y="21488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13.1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" y="265176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" y="26517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Pain score (6mo)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1939" y="26517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</a:rPr>
              <a:t>2.1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2420" y="26517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4.5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87100" y="2784348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87100" y="27843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-11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" y="315468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" y="31546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Quality of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1939" y="3154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0.82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2420" y="3154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0.79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" y="365760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" y="36576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Complication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1939" y="36576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</a:rPr>
              <a:t>3.5%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2420" y="36576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7.2%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87100" y="3790187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87100" y="3790187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-11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" y="416052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416052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Hospital stay (days)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1939" y="41605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</a:rPr>
              <a:t>3.2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2420" y="41605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5.8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87100" y="4293108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87100" y="429310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-11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" y="4663440"/>
            <a:ext cx="113385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" y="46634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Return to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1939" y="46634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</a:rPr>
              <a:t>21d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2420" y="46634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34d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87100" y="4796027"/>
            <a:ext cx="54864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87100" y="4796027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-11">
                <a:solidFill>
                  <a:srgbClr val="1F1F1F"/>
                </a:solidFill>
                <a:latin typeface="Pretendard"/>
              </a:rPr>
              <a:t>p&lt;.05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" y="5166360"/>
            <a:ext cx="11338560" cy="50292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" y="516636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Satisfaction (1-5)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1939" y="5166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4.6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2420" y="5166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spc="-16">
                <a:solidFill>
                  <a:srgbClr val="161616"/>
                </a:solidFill>
                <a:latin typeface="Pretendard"/>
              </a:rPr>
              <a:t>4.3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F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Stacked Insight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" y="1508760"/>
            <a:ext cx="11338560" cy="1188720"/>
          </a:xfrm>
          <a:prstGeom prst="roundRect">
            <a:avLst>
              <a:gd name="adj" fmla="val 7692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" y="1691639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-15">
                <a:solidFill>
                  <a:srgbClr val="CBA258"/>
                </a:solidFill>
                <a:latin typeface="Pretendard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01168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spc="-26">
                <a:solidFill>
                  <a:srgbClr val="1F1F1F"/>
                </a:solidFill>
                <a:latin typeface="Pretendard"/>
              </a:rPr>
              <a:t>A single sentence stating the primary takeaway.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" y="2880360"/>
            <a:ext cx="11338560" cy="2194560"/>
          </a:xfrm>
          <a:prstGeom prst="roundRect">
            <a:avLst>
              <a:gd name="adj" fmla="val 41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" y="3017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-14">
                <a:solidFill>
                  <a:srgbClr val="161616"/>
                </a:solidFill>
                <a:latin typeface="Pretendard"/>
              </a:rPr>
              <a:t>Supporting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879341"/>
            <a:ext cx="548640" cy="921257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0" y="4205325"/>
            <a:ext cx="548640" cy="59527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Outcome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695090"/>
            <a:ext cx="548640" cy="1105509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59" y="4021074"/>
            <a:ext cx="548640" cy="77952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Outcome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162806"/>
            <a:ext cx="548640" cy="637793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21861"/>
            <a:ext cx="548640" cy="878738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Outcome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553358"/>
            <a:ext cx="548640" cy="1247241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24160" y="3794302"/>
            <a:ext cx="548640" cy="1006297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4846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spc="-15">
                <a:solidFill>
                  <a:srgbClr val="7A7A7A"/>
                </a:solidFill>
                <a:latin typeface="Pretendard"/>
              </a:rPr>
              <a:t>Outcome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" y="525780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" y="54223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spc="-15">
                <a:solidFill>
                  <a:srgbClr val="006241"/>
                </a:solidFill>
                <a:latin typeface="Pretendard"/>
              </a:rPr>
              <a:t>CLINICAL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" y="57607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spc="-20">
                <a:solidFill>
                  <a:srgbClr val="161616"/>
                </a:solidFill>
                <a:latin typeface="Pretendard"/>
              </a:rPr>
              <a:t>How this changes clinical practice, in one or two 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G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1460" y="219456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6241"/>
                </a:solidFill>
                <a:latin typeface="Pretendard"/>
              </a:rPr>
              <a:t>One bold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" y="315468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6241"/>
                </a:solidFill>
                <a:latin typeface="Pretendard"/>
              </a:rPr>
              <a:t>One strong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" y="4114800"/>
            <a:ext cx="116997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60">
                <a:solidFill>
                  <a:srgbClr val="00754A"/>
                </a:solidFill>
                <a:latin typeface="Pretendard"/>
              </a:rPr>
              <a:t>One clear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" y="5623560"/>
            <a:ext cx="116997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 spc="-18">
                <a:solidFill>
                  <a:srgbClr val="7A7A7A"/>
                </a:solidFill>
                <a:latin typeface="Pretendard"/>
              </a:rPr>
              <a:t>Sub-line — short italic descriptor that complements the big lines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Pillar Cards — multi-dimensional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4182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82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PILLAR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spc="-22">
                <a:solidFill>
                  <a:srgbClr val="161616"/>
                </a:solidFill>
                <a:latin typeface="Pretendard"/>
              </a:rPr>
              <a:t>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spc="-16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27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27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8675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675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PILLAR TWO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15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15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spc="-22">
                <a:solidFill>
                  <a:srgbClr val="161616"/>
                </a:solidFill>
                <a:latin typeface="Pretendard"/>
              </a:rPr>
              <a:t>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15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spc="-16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200" y="1783080"/>
            <a:ext cx="3643762" cy="3383280"/>
          </a:xfrm>
          <a:prstGeom prst="roundRect">
            <a:avLst>
              <a:gd name="adj" fmla="val 3243"/>
            </a:avLst>
          </a:prstGeom>
          <a:noFill/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4200" y="1783080"/>
            <a:ext cx="3643762" cy="91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31681" y="2103120"/>
            <a:ext cx="1828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31681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spc="-14">
                <a:solidFill>
                  <a:srgbClr val="1F1F1F"/>
                </a:solidFill>
                <a:latin typeface="Pretendard"/>
              </a:rPr>
              <a:t>PILLAR THREE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7080" y="2788920"/>
            <a:ext cx="327800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spc="-44">
                <a:solidFill>
                  <a:srgbClr val="006241"/>
                </a:solidFill>
                <a:latin typeface="Pretendard"/>
              </a:rPr>
              <a:t>94.9%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7080" y="3611880"/>
            <a:ext cx="327800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spc="-22">
                <a:solidFill>
                  <a:srgbClr val="161616"/>
                </a:solidFill>
                <a:latin typeface="Pretendard"/>
              </a:rPr>
              <a:t>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080" y="4114800"/>
            <a:ext cx="327800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spc="-16">
                <a:solidFill>
                  <a:srgbClr val="1F1F1F"/>
                </a:solidFill>
                <a:latin typeface="Pretendard"/>
              </a:rPr>
              <a:t>One-line description of
why this pillar matters.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69280"/>
            <a:ext cx="11201400" cy="685800"/>
          </a:xfrm>
          <a:prstGeom prst="roundRect">
            <a:avLst>
              <a:gd name="adj" fmla="val 13333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669280"/>
            <a:ext cx="10835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spc="-20">
                <a:solidFill>
                  <a:srgbClr val="1F1F1F"/>
                </a:solidFill>
                <a:latin typeface="Pretendard"/>
              </a:rPr>
              <a:t>Unified take-home sentence linking the three pillars.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I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Forest Plot — Equivalence margin band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201400" cy="2011680"/>
          </a:xfrm>
          <a:prstGeom prst="roundRect">
            <a:avLst>
              <a:gd name="adj" fmla="val 363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201168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7335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-24">
                <a:solidFill>
                  <a:srgbClr val="161616"/>
                </a:solidFill>
                <a:latin typeface="Pretendard"/>
              </a:rPr>
              <a:t>Trial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Journal  ·  YYYY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972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spc="-17">
                <a:solidFill>
                  <a:srgbClr val="1F1F1F"/>
                </a:solidFill>
                <a:latin typeface="Pretendard"/>
              </a:rPr>
              <a:t>Cohort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42316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 spc="-17">
                <a:solidFill>
                  <a:srgbClr val="7A7A7A"/>
                </a:solidFill>
                <a:latin typeface="Pretendard"/>
              </a:rPr>
              <a:t>n =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7244" y="2103120"/>
            <a:ext cx="6047232" cy="822960"/>
          </a:xfrm>
          <a:prstGeom prst="rect">
            <a:avLst/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9928" y="210312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97160" y="210312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76288" y="2103120"/>
            <a:ext cx="9144" cy="8229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7870" y="2478024"/>
            <a:ext cx="2409443" cy="73152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897" y="2350008"/>
            <a:ext cx="21945" cy="329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6341" y="2350008"/>
            <a:ext cx="21945" cy="32918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/>
          <p:cNvSpPr/>
          <p:nvPr/>
        </p:nvSpPr>
        <p:spPr>
          <a:xfrm>
            <a:off x="6885432" y="2377440"/>
            <a:ext cx="274320" cy="274320"/>
          </a:xfrm>
          <a:prstGeom prst="diamond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−15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484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6241"/>
                </a:solidFill>
                <a:latin typeface="Pretendard"/>
              </a:rPr>
              <a:t>−12.8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8716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6241"/>
                </a:solidFill>
                <a:latin typeface="Pretendard"/>
              </a:rPr>
              <a:t>+12.8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97180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+15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737360"/>
            <a:ext cx="70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spc="-20">
                <a:solidFill>
                  <a:srgbClr val="00754A"/>
                </a:solidFill>
                <a:latin typeface="Pretendard"/>
              </a:rPr>
              <a:t>+0.6 (95% CI -4.5 to +5.7)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2331720"/>
            <a:ext cx="9144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23317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spc="-17">
                <a:solidFill>
                  <a:srgbClr val="1F1F1F"/>
                </a:solidFill>
                <a:latin typeface="Pretendard"/>
              </a:rPr>
              <a:t>p = 0.82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03320"/>
            <a:ext cx="11201400" cy="2011680"/>
          </a:xfrm>
          <a:prstGeom prst="roundRect">
            <a:avLst>
              <a:gd name="adj" fmla="val 363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703320"/>
            <a:ext cx="73152" cy="201168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86791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-24">
                <a:solidFill>
                  <a:srgbClr val="161616"/>
                </a:solidFill>
                <a:latin typeface="Pretendard"/>
              </a:rPr>
              <a:t>Trial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336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7A7A7A"/>
                </a:solidFill>
                <a:latin typeface="Pretendard"/>
              </a:rPr>
              <a:t>Journal  ·  YYYY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17720"/>
            <a:ext cx="10972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spc="-17">
                <a:solidFill>
                  <a:srgbClr val="1F1F1F"/>
                </a:solidFill>
                <a:latin typeface="Pretendard"/>
              </a:rPr>
              <a:t>Cohort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61772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 spc="-17">
                <a:solidFill>
                  <a:srgbClr val="7A7A7A"/>
                </a:solidFill>
                <a:latin typeface="Pretendard"/>
              </a:rPr>
              <a:t>n = 106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7244" y="4297680"/>
            <a:ext cx="6047232" cy="822960"/>
          </a:xfrm>
          <a:prstGeom prst="rect">
            <a:avLst/>
          </a:prstGeom>
          <a:solidFill>
            <a:srgbClr val="D4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849928" y="429768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97160" y="4297680"/>
            <a:ext cx="14630" cy="82296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76288" y="4297680"/>
            <a:ext cx="9144" cy="8229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8660" y="4672584"/>
            <a:ext cx="2598420" cy="7315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07687" y="4544568"/>
            <a:ext cx="21945" cy="32918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106107" y="4544568"/>
            <a:ext cx="21945" cy="329184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iamond 43"/>
          <p:cNvSpPr/>
          <p:nvPr/>
        </p:nvSpPr>
        <p:spPr>
          <a:xfrm>
            <a:off x="5562600" y="4572000"/>
            <a:ext cx="274320" cy="274320"/>
          </a:xfrm>
          <a:prstGeom prst="diamond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718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−15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91484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6241"/>
                </a:solidFill>
                <a:latin typeface="Pretendard"/>
              </a:rPr>
              <a:t>−12.8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51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8716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spc="-14">
                <a:solidFill>
                  <a:srgbClr val="006241"/>
                </a:solidFill>
                <a:latin typeface="Pretendard"/>
              </a:rPr>
              <a:t>+12.8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51663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+15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3931920"/>
            <a:ext cx="7086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spc="-20">
                <a:solidFill>
                  <a:srgbClr val="006241"/>
                </a:solidFill>
                <a:latin typeface="Pretendard"/>
              </a:rPr>
              <a:t>-5.0 (95% CI -10 to +1)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07040" y="4526280"/>
            <a:ext cx="9144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07040" y="45262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spc="-17">
                <a:solidFill>
                  <a:srgbClr val="1F1F1F"/>
                </a:solidFill>
                <a:latin typeface="Pretendard"/>
              </a:rPr>
              <a:t>p = 0.12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852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spc="-14">
                <a:solidFill>
                  <a:srgbClr val="7A7A7A"/>
                </a:solidFill>
                <a:latin typeface="Pretendard"/>
              </a:rPr>
              <a:t>Mean difference  (Intervention − Comparator)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6172200"/>
            <a:ext cx="11201400" cy="36576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1E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spc="-17">
                <a:solidFill>
                  <a:srgbClr val="1F1F1F"/>
                </a:solidFill>
                <a:latin typeface="Pretendard"/>
              </a:rPr>
              <a:t>✓  Both 95% CIs lie within the ±12.8 equivalence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J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Timeline — Milestone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310128"/>
            <a:ext cx="9052560" cy="32004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453895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39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spc="-22">
                <a:solidFill>
                  <a:srgbClr val="006241"/>
                </a:solidFill>
                <a:latin typeface="Pretendard"/>
              </a:rPr>
              <a:t>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Single-center</a:t>
            </a:r>
          </a:p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pilot</a:t>
            </a:r>
          </a:p>
        </p:txBody>
      </p:sp>
      <p:sp>
        <p:nvSpPr>
          <p:cNvPr id="41" name="Oval 40"/>
          <p:cNvSpPr/>
          <p:nvPr/>
        </p:nvSpPr>
        <p:spPr>
          <a:xfrm>
            <a:off x="3717035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11779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spc="-22">
                <a:solidFill>
                  <a:srgbClr val="006241"/>
                </a:solidFill>
                <a:latin typeface="Pretendard"/>
              </a:rPr>
              <a:t>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0339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Multicenter</a:t>
            </a:r>
          </a:p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protocol</a:t>
            </a:r>
          </a:p>
        </p:txBody>
      </p:sp>
      <p:sp>
        <p:nvSpPr>
          <p:cNvPr id="44" name="Oval 43"/>
          <p:cNvSpPr/>
          <p:nvPr/>
        </p:nvSpPr>
        <p:spPr>
          <a:xfrm>
            <a:off x="598017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49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spc="-22">
                <a:solidFill>
                  <a:srgbClr val="006241"/>
                </a:solidFill>
                <a:latin typeface="Pretendard"/>
              </a:rPr>
              <a:t>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First RCT</a:t>
            </a:r>
          </a:p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enrolment</a:t>
            </a:r>
          </a:p>
        </p:txBody>
      </p:sp>
      <p:sp>
        <p:nvSpPr>
          <p:cNvPr id="47" name="Oval 46"/>
          <p:cNvSpPr/>
          <p:nvPr/>
        </p:nvSpPr>
        <p:spPr>
          <a:xfrm>
            <a:off x="824331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3806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spc="-22">
                <a:solidFill>
                  <a:srgbClr val="006241"/>
                </a:solidFill>
                <a:latin typeface="Pretendard"/>
              </a:rPr>
              <a:t>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662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Two RCTs</a:t>
            </a:r>
          </a:p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completed</a:t>
            </a:r>
          </a:p>
        </p:txBody>
      </p:sp>
      <p:sp>
        <p:nvSpPr>
          <p:cNvPr id="50" name="Oval 49"/>
          <p:cNvSpPr/>
          <p:nvPr/>
        </p:nvSpPr>
        <p:spPr>
          <a:xfrm>
            <a:off x="10506456" y="3259836"/>
            <a:ext cx="201168" cy="201168"/>
          </a:xfrm>
          <a:prstGeom prst="ellipse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spc="-22">
                <a:solidFill>
                  <a:srgbClr val="006241"/>
                </a:solidFill>
                <a:latin typeface="Pretendard"/>
              </a:rPr>
              <a:t>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Pooled</a:t>
            </a:r>
          </a:p>
          <a:p>
            <a:pPr algn="ctr"/>
            <a:r>
              <a:rPr sz="1400" b="0" spc="-14">
                <a:solidFill>
                  <a:srgbClr val="1F1F1F"/>
                </a:solidFill>
                <a:latin typeface="Pretendard"/>
              </a:rPr>
              <a:t>analyses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K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Process Flow — CONSORT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1F1F1F"/>
                </a:solidFill>
                <a:latin typeface="Pretendard"/>
              </a:rPr>
              <a:t>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spc="-16">
                <a:solidFill>
                  <a:srgbClr val="6B6B6B"/>
                </a:solidFill>
                <a:latin typeface="Pretendard"/>
              </a:rPr>
              <a:t>n = NNN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1F1F1F"/>
                </a:solidFill>
                <a:latin typeface="Pretendard"/>
              </a:rPr>
              <a:t>Randomized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spc="-16">
                <a:solidFill>
                  <a:srgbClr val="6B6B6B"/>
                </a:solidFill>
                <a:latin typeface="Pretendard"/>
              </a:rPr>
              <a:t>n = NNN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1F1F1F"/>
                </a:solidFill>
                <a:latin typeface="Pretendard"/>
              </a:rPr>
              <a:t>Allocated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spc="-16">
                <a:solidFill>
                  <a:srgbClr val="6B6B6B"/>
                </a:solidFill>
                <a:latin typeface="Pretendard"/>
              </a:rPr>
              <a:t>n = NN / NN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2834640"/>
            <a:ext cx="2468880" cy="1325880"/>
          </a:xfrm>
          <a:prstGeom prst="roundRect">
            <a:avLst/>
          </a:prstGeom>
          <a:noFill/>
          <a:ln w="15875">
            <a:solidFill>
              <a:srgbClr val="00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-18">
                <a:solidFill>
                  <a:srgbClr val="1F1F1F"/>
                </a:solidFill>
                <a:latin typeface="Pretendard"/>
              </a:rPr>
              <a:t>Analyzed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spc="-16">
                <a:solidFill>
                  <a:srgbClr val="6B6B6B"/>
                </a:solidFill>
                <a:latin typeface="Pretendard"/>
              </a:rPr>
              <a:t>n = NN / NN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99008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Arrow 49"/>
          <p:cNvSpPr/>
          <p:nvPr/>
        </p:nvSpPr>
        <p:spPr>
          <a:xfrm>
            <a:off x="577900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ight Arrow 50"/>
          <p:cNvSpPr/>
          <p:nvPr/>
        </p:nvSpPr>
        <p:spPr>
          <a:xfrm>
            <a:off x="8567928" y="3364992"/>
            <a:ext cx="256032" cy="274320"/>
          </a:xfrm>
          <a:prstGeom prst="rightArrow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Down Arrow 51"/>
          <p:cNvSpPr/>
          <p:nvPr/>
        </p:nvSpPr>
        <p:spPr>
          <a:xfrm>
            <a:off x="4434840" y="4297680"/>
            <a:ext cx="201168" cy="32004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91840" y="4663440"/>
            <a:ext cx="2468880" cy="868680"/>
          </a:xfrm>
          <a:prstGeom prst="roundRect">
            <a:avLst/>
          </a:prstGeom>
          <a:noFill/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91840" y="4800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spc="-15">
                <a:solidFill>
                  <a:srgbClr val="6B6B6B"/>
                </a:solidFill>
                <a:latin typeface="Pretendard"/>
              </a:rPr>
              <a:t>Excluded (n = NN)</a:t>
            </a:r>
          </a:p>
          <a:p>
            <a:pPr algn="ctr"/>
            <a:r>
              <a:rPr sz="1500" b="0" spc="-15">
                <a:solidFill>
                  <a:srgbClr val="6B6B6B"/>
                </a:solidFill>
                <a:latin typeface="Pretendard"/>
              </a:rPr>
              <a:t>– reason / criterion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-13">
                <a:solidFill>
                  <a:srgbClr val="8E8E93"/>
                </a:solidFill>
                <a:latin typeface="Pretendard"/>
              </a:rPr>
              <a:t>PATTERN 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60" y="4362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32">
                <a:solidFill>
                  <a:srgbClr val="006241"/>
                </a:solidFill>
                <a:latin typeface="Pretendard"/>
              </a:rPr>
              <a:t>Text Block — one editable text 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-11">
                <a:solidFill>
                  <a:srgbClr val="8E8E93"/>
                </a:solidFill>
                <a:latin typeface="Pretendard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spc="-12">
                <a:solidFill>
                  <a:srgbClr val="8E8E93"/>
                </a:solidFill>
                <a:latin typeface="Pretendard"/>
              </a:rPr>
              <a:t>Source: study cohort  ·  n = 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1554480"/>
            <a:ext cx="10881360" cy="4709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18000"/>
              </a:lnSpc>
              <a:spcBef>
                <a:spcPts val="14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2800" b="0" spc="-28">
                <a:solidFill>
                  <a:srgbClr val="1F1F1F"/>
                </a:solidFill>
                <a:latin typeface="Pretendard"/>
              </a:rPr>
              <a:t>Primary point — the single message of this slide</a:t>
            </a:r>
          </a:p>
          <a:p>
            <a:pPr marL="342900" indent="-342900">
              <a:lnSpc>
                <a:spcPct val="118000"/>
              </a:lnSpc>
              <a:spcBef>
                <a:spcPts val="14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2800" b="0" spc="-28">
                <a:solidFill>
                  <a:srgbClr val="1F1F1F"/>
                </a:solidFill>
                <a:latin typeface="Pretendard"/>
              </a:rPr>
              <a:t>Supporting line with a </a:t>
            </a:r>
            <a:r>
              <a:rPr sz="2800" b="1" spc="-28">
                <a:solidFill>
                  <a:srgbClr val="00754A"/>
                </a:solidFill>
                <a:latin typeface="Pretendard"/>
              </a:rPr>
              <a:t>key phrase</a:t>
            </a:r>
            <a:r>
              <a:rPr sz="2800" b="0" spc="-28">
                <a:solidFill>
                  <a:srgbClr val="1F1F1F"/>
                </a:solidFill>
                <a:latin typeface="Pretendard"/>
              </a:rPr>
              <a:t> emphasised</a:t>
            </a:r>
          </a:p>
          <a:p>
            <a:pPr>
              <a:lnSpc>
                <a:spcPct val="55000"/>
              </a:lnSpc>
              <a:buNone/>
            </a:pPr>
            <a:endParaRPr sz="2800" b="0" spc="-28">
              <a:solidFill>
                <a:srgbClr val="1F1F1F"/>
              </a:solidFill>
              <a:latin typeface="Pretendard"/>
            </a:endParaRPr>
          </a:p>
          <a:p>
            <a:pPr marL="342900" indent="-342900">
              <a:lnSpc>
                <a:spcPct val="118000"/>
              </a:lnSpc>
              <a:spcBef>
                <a:spcPts val="14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3200" b="0" spc="-32">
                <a:solidFill>
                  <a:srgbClr val="1F1F1F"/>
                </a:solidFill>
                <a:latin typeface="Pretendard"/>
              </a:rPr>
              <a:t>A larger line when one statement needs weight</a:t>
            </a:r>
          </a:p>
          <a:p>
            <a:pPr marL="342900" indent="-342900">
              <a:lnSpc>
                <a:spcPct val="118000"/>
              </a:lnSpc>
              <a:spcBef>
                <a:spcPts val="14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2400" b="0" spc="-24">
                <a:solidFill>
                  <a:srgbClr val="6B6B6B"/>
                </a:solidFill>
                <a:latin typeface="Pretendard"/>
              </a:rPr>
              <a:t>secondary detail, one step down</a:t>
            </a:r>
          </a:p>
          <a:p>
            <a:pPr>
              <a:lnSpc>
                <a:spcPct val="55000"/>
              </a:lnSpc>
              <a:buNone/>
            </a:pPr>
            <a:endParaRPr sz="2400" b="0" spc="-24">
              <a:solidFill>
                <a:srgbClr val="6B6B6B"/>
              </a:solidFill>
              <a:latin typeface="Pretendard"/>
            </a:endParaRPr>
          </a:p>
          <a:p>
            <a:pPr marL="342900" indent="-342900">
              <a:lnSpc>
                <a:spcPct val="118000"/>
              </a:lnSpc>
              <a:spcBef>
                <a:spcPts val="1400"/>
              </a:spcBef>
              <a:buClr>
                <a:srgbClr val="00754A"/>
              </a:buClr>
              <a:buSzPct val="68000"/>
              <a:buFont typeface="Arial"/>
              <a:buChar char="●"/>
            </a:pPr>
            <a:r>
              <a:rPr sz="2800" b="0" spc="-28">
                <a:solidFill>
                  <a:srgbClr val="1F1F1F"/>
                </a:solidFill>
                <a:latin typeface="Pretendard"/>
              </a:rPr>
              <a:t>Closing point — </a:t>
            </a:r>
            <a:r>
              <a:rPr sz="2800" b="1" spc="-28">
                <a:solidFill>
                  <a:srgbClr val="00754A"/>
                </a:solidFill>
                <a:latin typeface="Pretendard"/>
              </a:rPr>
              <a:t>the conclusion</a:t>
            </a:r>
            <a:r>
              <a:rPr sz="2800" b="0" spc="-28">
                <a:solidFill>
                  <a:srgbClr val="1F1F1F"/>
                </a:solidFill>
                <a:latin typeface="Pretendard"/>
              </a:rPr>
              <a:t> in bold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88836" y="0"/>
            <a:ext cx="5472684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t="21391" r="16358" b="11330"/>
          <a:stretch>
            <a:fillRect/>
          </a:stretch>
        </p:blipFill>
        <p:spPr>
          <a:xfrm>
            <a:off x="10748356" y="11978"/>
            <a:ext cx="1443644" cy="798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8600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 spc="-72">
                <a:solidFill>
                  <a:srgbClr val="006241"/>
                </a:solidFill>
                <a:latin typeface="Pretendar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spc="-20">
                <a:solidFill>
                  <a:srgbClr val="6B6B6B"/>
                </a:solidFill>
                <a:latin typeface="Pretendard"/>
              </a:rPr>
              <a:t>Questions and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72000"/>
            <a:ext cx="1645920" cy="36576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66503" y="510235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0" i="0" spc="-15">
                <a:solidFill>
                  <a:srgbClr val="6B6B6B"/>
                </a:solidFill>
                <a:latin typeface="Pretendard"/>
              </a:rPr>
              <a:t>Seoul National Univ. Bundang Hospital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6503" y="5477621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 spc="-22">
                <a:solidFill>
                  <a:srgbClr val="1F1F1F"/>
                </a:solidFill>
                <a:latin typeface="Pretendard"/>
              </a:rPr>
              <a:t>Sang-Min Park, MD, PhD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216" y="637812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</a:rPr>
              <a:t>Conference name   |   YYYY.MM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와이드스크린</PresentationFormat>
  <Paragraphs>232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Sangmin Park</cp:lastModifiedBy>
  <cp:revision>1</cp:revision>
  <dcterms:created xsi:type="dcterms:W3CDTF">2013-01-27T09:14:16Z</dcterms:created>
  <dcterms:modified xsi:type="dcterms:W3CDTF">2026-06-09T02:54:52Z</dcterms:modified>
  <cp:category/>
</cp:coreProperties>
</file>