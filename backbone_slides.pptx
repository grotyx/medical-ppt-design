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23990" y="0"/>
            <a:ext cx="5837529" cy="6858000"/>
          </a:xfrm>
          <a:prstGeom prst="rect">
            <a:avLst/>
          </a:prstGeom>
          <a:solidFill>
            <a:srgbClr val="24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1014984"/>
            <a:ext cx="320040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31295"/>
            <a:ext cx="3200400" cy="215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spc="-100">
                <a:solidFill>
                  <a:srgbClr val="FFFFFF"/>
                </a:solidFill>
                <a:latin typeface="Pretendard"/>
              </a:rPr>
              <a:t>SNUBH  SPINE SURGERY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5617"/>
            <a:ext cx="11242822" cy="13632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 spc="-100">
                <a:solidFill>
                  <a:srgbClr val="FFFFFF"/>
                </a:solidFill>
                <a:latin typeface="Pretendard"/>
              </a:rPr>
              <a:t>Clinical Outcome
Analysis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247" y="3704874"/>
            <a:ext cx="8229600" cy="276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 spc="-100">
                <a:solidFill>
                  <a:srgbClr val="B3D4CB"/>
                </a:solidFill>
                <a:latin typeface="Pretendard"/>
              </a:rPr>
              <a:t>Study descriptor  |  Design / cohort tag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37503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76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800" b="0" i="0" spc="-100">
                <a:solidFill>
                  <a:srgbClr val="8BB8AE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77256"/>
            <a:ext cx="5029200" cy="4308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800" b="1" i="0" spc="-100">
                <a:solidFill>
                  <a:srgbClr val="FFFFF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15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 spc="-100">
                <a:solidFill>
                  <a:srgbClr val="8BB8AE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24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321040" y="4206240"/>
            <a:ext cx="34747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1" i="0" spc="-100">
                <a:solidFill>
                  <a:srgbClr val="FFFFFF"/>
                </a:solidFill>
                <a:latin typeface="Pretendard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8898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090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 spc="-100">
                <a:solidFill>
                  <a:srgbClr val="FFFFFF"/>
                </a:solidFill>
                <a:latin typeface="Pretendard"/>
              </a:rPr>
              <a:t>SECTION 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 spc="-100">
                <a:solidFill>
                  <a:srgbClr val="FFFFFF"/>
                </a:solidFill>
                <a:latin typeface="Pretendard"/>
              </a:rPr>
              <a:t>Section title goes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80467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 spc="-100">
                <a:solidFill>
                  <a:srgbClr val="B3D4CB"/>
                </a:solidFill>
                <a:latin typeface="Pretendard"/>
              </a:rPr>
              <a:t>Section subtitle — short descriptive sentence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36161"/>
            <a:ext cx="137160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A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Single Chart — Full Width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-100">
                <a:solidFill>
                  <a:srgbClr val="161616"/>
                </a:solidFill>
                <a:latin typeface="Pretendard"/>
              </a:rPr>
              <a:t>Outcome comparison across four metrics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874519"/>
            <a:ext cx="1065276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89330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19" y="577900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 spc="-100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8746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19" y="477316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 spc="-100">
                <a:solidFill>
                  <a:srgbClr val="7A7A7A"/>
                </a:solidFill>
                <a:latin typeface="Pretendard"/>
              </a:rPr>
              <a:t>25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88162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19" y="376732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 spc="-100">
                <a:solidFill>
                  <a:srgbClr val="7A7A7A"/>
                </a:solidFill>
                <a:latin typeface="Pretendard"/>
              </a:rPr>
              <a:t>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87578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19" y="276148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 spc="-100">
                <a:solidFill>
                  <a:srgbClr val="7A7A7A"/>
                </a:solidFill>
                <a:latin typeface="Pretendard"/>
              </a:rPr>
              <a:t>75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1869948"/>
            <a:ext cx="10652760" cy="9144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19" y="1755648"/>
            <a:ext cx="457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 spc="-100">
                <a:solidFill>
                  <a:srgbClr val="7A7A7A"/>
                </a:solidFill>
                <a:latin typeface="Pretendard"/>
              </a:rPr>
              <a:t>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77213" y="3282696"/>
            <a:ext cx="585901" cy="2615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4554" y="3685031"/>
            <a:ext cx="585901" cy="221284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7314" y="59893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 spc="-100">
                <a:solidFill>
                  <a:srgbClr val="7A7A7A"/>
                </a:solidFill>
                <a:latin typeface="Pretendard"/>
              </a:rPr>
              <a:t>Metric 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40403" y="2759659"/>
            <a:ext cx="585901" cy="313822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17745" y="3403396"/>
            <a:ext cx="585901" cy="2494483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40505" y="59893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 spc="-100">
                <a:solidFill>
                  <a:srgbClr val="7A7A7A"/>
                </a:solidFill>
                <a:latin typeface="Pretendard"/>
              </a:rPr>
              <a:t>Metric B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03593" y="4208068"/>
            <a:ext cx="585901" cy="168981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80935" y="3886200"/>
            <a:ext cx="585901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03695" y="59893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 spc="-100">
                <a:solidFill>
                  <a:srgbClr val="7A7A7A"/>
                </a:solidFill>
                <a:latin typeface="Pretendard"/>
              </a:rPr>
              <a:t>Metric 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6783" y="2357323"/>
            <a:ext cx="585901" cy="35405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144125" y="2960827"/>
            <a:ext cx="585901" cy="29370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66885" y="59893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 spc="-100">
                <a:solidFill>
                  <a:srgbClr val="7A7A7A"/>
                </a:solidFill>
                <a:latin typeface="Pretendard"/>
              </a:rPr>
              <a:t>Metric 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6492240"/>
            <a:ext cx="182880" cy="16459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640080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Intervention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01200" y="6492240"/>
            <a:ext cx="182880" cy="16459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0" y="640080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Comparator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B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KPI Tiles Row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" y="1417320"/>
            <a:ext cx="2776255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" y="1417320"/>
            <a:ext cx="2776255" cy="5486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" y="1581912"/>
            <a:ext cx="24104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0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2148840"/>
            <a:ext cx="241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spc="-100">
                <a:solidFill>
                  <a:srgbClr val="7A7A7A"/>
                </a:solidFill>
                <a:latin typeface="Pretendard"/>
              </a:rPr>
              <a:t>Primary outcome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50475" y="16002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50475" y="160020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-100">
                <a:solidFill>
                  <a:srgbClr val="FFFFFF"/>
                </a:solidFill>
                <a:latin typeface="Pretendard"/>
              </a:rPr>
              <a:t>+8.4%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6315" y="1417320"/>
            <a:ext cx="2776255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56315" y="1417320"/>
            <a:ext cx="2776255" cy="5486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9195" y="1581912"/>
            <a:ext cx="24104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00">
                <a:solidFill>
                  <a:srgbClr val="006241"/>
                </a:solidFill>
                <a:latin typeface="Pretendard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39195" y="2148840"/>
            <a:ext cx="241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spc="-100">
                <a:solidFill>
                  <a:srgbClr val="7A7A7A"/>
                </a:solidFill>
                <a:latin typeface="Pretendard"/>
              </a:rPr>
              <a:t>Pain score (6mo)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63891" y="16002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3891" y="160020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-100">
                <a:solidFill>
                  <a:srgbClr val="FFFFFF"/>
                </a:solidFill>
                <a:latin typeface="Pretendard"/>
              </a:rPr>
              <a:t>▼ 5.3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9731" y="1417320"/>
            <a:ext cx="2776255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69731" y="1417320"/>
            <a:ext cx="2776255" cy="5486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2611" y="1581912"/>
            <a:ext cx="24104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00">
                <a:solidFill>
                  <a:srgbClr val="006241"/>
                </a:solidFill>
                <a:latin typeface="Pretendard"/>
              </a:rP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2611" y="2148840"/>
            <a:ext cx="241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spc="-100">
                <a:solidFill>
                  <a:srgbClr val="7A7A7A"/>
                </a:solidFill>
                <a:latin typeface="Pretendard"/>
              </a:rPr>
              <a:t>Complication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7306" y="16002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77306" y="160020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-100">
                <a:solidFill>
                  <a:srgbClr val="FFFFFF"/>
                </a:solidFill>
                <a:latin typeface="Pretendard"/>
              </a:rPr>
              <a:t>vs 7.2%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3146" y="1417320"/>
            <a:ext cx="2776255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83146" y="1417320"/>
            <a:ext cx="2776255" cy="5486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66026" y="1581912"/>
            <a:ext cx="241049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00">
                <a:solidFill>
                  <a:srgbClr val="006241"/>
                </a:solidFill>
                <a:latin typeface="Pretendard"/>
              </a:rPr>
              <a:t>3.2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6026" y="2148840"/>
            <a:ext cx="24104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spc="-100">
                <a:solidFill>
                  <a:srgbClr val="7A7A7A"/>
                </a:solidFill>
                <a:latin typeface="Pretendard"/>
              </a:rPr>
              <a:t>Stay (days)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990722" y="160020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90722" y="160020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-100">
                <a:solidFill>
                  <a:srgbClr val="FFFFFF"/>
                </a:solidFill>
                <a:latin typeface="Pretendard"/>
              </a:rPr>
              <a:t>▼ 2.6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" y="2834640"/>
            <a:ext cx="11338560" cy="3337560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" y="29718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-100">
                <a:solidFill>
                  <a:srgbClr val="161616"/>
                </a:solidFill>
                <a:latin typeface="Pretendard"/>
              </a:rPr>
              <a:t>Supporting trend chart — pre- vs post-treatment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1074419" y="4706874"/>
            <a:ext cx="2560321" cy="560070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634740" y="4258818"/>
            <a:ext cx="2560320" cy="448056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195060" y="3922776"/>
            <a:ext cx="2560320" cy="336042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55380" y="3810761"/>
            <a:ext cx="2560320" cy="112015"/>
          </a:xfrm>
          <a:prstGeom prst="line">
            <a:avLst/>
          </a:prstGeom>
          <a:ln w="38100">
            <a:solidFill>
              <a:srgbClr val="0075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561588" y="4633722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121908" y="4185665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682228" y="3849624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1242548" y="3737609"/>
            <a:ext cx="146304" cy="146304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1074419" y="4818888"/>
            <a:ext cx="2560321" cy="448056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634740" y="4482846"/>
            <a:ext cx="2560320" cy="336042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6195060" y="4258818"/>
            <a:ext cx="2560320" cy="224028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755380" y="4101998"/>
            <a:ext cx="2560320" cy="156820"/>
          </a:xfrm>
          <a:prstGeom prst="line">
            <a:avLst/>
          </a:prstGeom>
          <a:ln w="38100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1001267" y="5193792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561588" y="474573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21908" y="4409694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682228" y="4185665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242548" y="4028846"/>
            <a:ext cx="146304" cy="146304"/>
          </a:xfrm>
          <a:prstGeom prst="ellipse">
            <a:avLst/>
          </a:prstGeom>
          <a:solidFill>
            <a:srgbClr val="00624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39" y="580644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Baseline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23260" y="580644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2 wk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83580" y="580644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3 mo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43900" y="580644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6 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04220" y="5806440"/>
            <a:ext cx="822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12 mo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C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Two-Column — Claim /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" y="1645920"/>
            <a:ext cx="58677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spc="-100">
                <a:solidFill>
                  <a:srgbClr val="161616"/>
                </a:solidFill>
                <a:latin typeface="Pretendard"/>
              </a:rPr>
              <a:t>Headline claim — the punchline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59" y="2331720"/>
            <a:ext cx="55476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 spc="-100">
                <a:solidFill>
                  <a:srgbClr val="1F1F1F"/>
                </a:solidFill>
                <a:latin typeface="Pretendard"/>
              </a:rPr>
              <a:t>First supporting point with concise wording.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" y="283463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7259" y="2834639"/>
            <a:ext cx="55476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 spc="-100">
                <a:solidFill>
                  <a:srgbClr val="1F1F1F"/>
                </a:solidFill>
                <a:latin typeface="Pretendard"/>
              </a:rPr>
              <a:t>Second supporting point with concrete numbers.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337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00754A"/>
                </a:solidFill>
                <a:latin typeface="Pretendard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59" y="3337559"/>
            <a:ext cx="55476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 spc="-100">
                <a:solidFill>
                  <a:srgbClr val="1F1F1F"/>
                </a:solidFill>
                <a:latin typeface="Pretendard"/>
              </a:rPr>
              <a:t>Third supporting point with clinical relevance.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" y="5120640"/>
            <a:ext cx="6050612" cy="868680"/>
          </a:xfrm>
          <a:prstGeom prst="roundRect">
            <a:avLst>
              <a:gd name="adj" fmla="val 8421"/>
            </a:avLst>
          </a:prstGeom>
          <a:solidFill>
            <a:srgbClr val="1E3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8659" y="5212079"/>
            <a:ext cx="57762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BA258"/>
                </a:solidFill>
                <a:latin typeface="Pretendard"/>
              </a:rPr>
              <a:t>KEY TAKEAWAY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59" y="5486400"/>
            <a:ext cx="577629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spc="-100">
                <a:solidFill>
                  <a:srgbClr val="FFFFFF"/>
                </a:solidFill>
                <a:latin typeface="Pretendard"/>
              </a:rPr>
              <a:t>One-sentence clinical implication.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2152" y="1645920"/>
            <a:ext cx="4917250" cy="4663440"/>
          </a:xfrm>
          <a:prstGeom prst="roundRect">
            <a:avLst>
              <a:gd name="adj" fmla="val 196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0752" y="1828800"/>
            <a:ext cx="446005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-100">
                <a:solidFill>
                  <a:srgbClr val="161616"/>
                </a:solidFill>
                <a:latin typeface="Pretendard"/>
              </a:rPr>
              <a:t>Evidence chart title</a:t>
            </a:r>
          </a:p>
        </p:txBody>
      </p:sp>
      <p:sp>
        <p:nvSpPr>
          <p:cNvPr id="19" name="Oval 18"/>
          <p:cNvSpPr/>
          <p:nvPr/>
        </p:nvSpPr>
        <p:spPr>
          <a:xfrm>
            <a:off x="8394937" y="3200399"/>
            <a:ext cx="2011680" cy="2011680"/>
          </a:xfrm>
          <a:prstGeom prst="ellipse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806417" y="3611879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23537" y="388620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 spc="-100">
                <a:solidFill>
                  <a:srgbClr val="006241"/>
                </a:solidFill>
                <a:latin typeface="Pretendard"/>
              </a:rPr>
              <a:t>74%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5032" y="5394959"/>
            <a:ext cx="455149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Primary outcome  (12 months)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D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Three KPI Tiles + Chart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" y="1508760"/>
            <a:ext cx="3716914" cy="141732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" y="1508760"/>
            <a:ext cx="3716914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" y="1691639"/>
            <a:ext cx="335115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00754A"/>
                </a:solidFill>
                <a:latin typeface="Pretendard"/>
              </a:rPr>
              <a:t>PRIMARY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" y="1965960"/>
            <a:ext cx="3351154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 i="0" spc="-100">
                <a:solidFill>
                  <a:srgbClr val="006241"/>
                </a:solidFill>
                <a:latin typeface="Pretendard"/>
              </a:rPr>
              <a:t>76.3%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" y="2560320"/>
            <a:ext cx="33511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Achieved at 12 months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2694" y="1508760"/>
            <a:ext cx="3716914" cy="141732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42694" y="1508760"/>
            <a:ext cx="3716914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5574" y="1691639"/>
            <a:ext cx="335115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00754A"/>
                </a:solidFill>
                <a:latin typeface="Pretendard"/>
              </a:rPr>
              <a:t>SAFETY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574" y="1965960"/>
            <a:ext cx="3351154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 i="0" spc="-100">
                <a:solidFill>
                  <a:srgbClr val="006241"/>
                </a:solidFill>
                <a:latin typeface="Pretendard"/>
              </a:rPr>
              <a:t>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5574" y="2560320"/>
            <a:ext cx="33511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Zero adverse events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42488" y="1508760"/>
            <a:ext cx="3716914" cy="1417320"/>
          </a:xfrm>
          <a:prstGeom prst="roundRect">
            <a:avLst>
              <a:gd name="adj" fmla="val 6451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42488" y="1508760"/>
            <a:ext cx="3716914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5368" y="1691639"/>
            <a:ext cx="335115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00754A"/>
                </a:solidFill>
                <a:latin typeface="Pretendard"/>
              </a:rPr>
              <a:t>SATISFACTION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368" y="1965960"/>
            <a:ext cx="3351154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 i="0" spc="-100">
                <a:solidFill>
                  <a:srgbClr val="006241"/>
                </a:solidFill>
                <a:latin typeface="Pretendard"/>
              </a:rPr>
              <a:t>4.6 /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5368" y="2560320"/>
            <a:ext cx="335115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Patient-reported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" y="3246120"/>
            <a:ext cx="1133856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" y="3383279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-100">
                <a:solidFill>
                  <a:srgbClr val="161616"/>
                </a:solidFill>
                <a:latin typeface="Pretendard"/>
              </a:rPr>
              <a:t>Supporting comparison chart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40204" y="4347057"/>
            <a:ext cx="1383030" cy="118506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65884" y="4072737"/>
            <a:ext cx="19316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754A"/>
                </a:solidFill>
                <a:latin typeface="Pretendard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5884" y="5577840"/>
            <a:ext cx="19316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Group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54804" y="4626864"/>
            <a:ext cx="1383030" cy="90525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80484" y="4352544"/>
            <a:ext cx="19316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754A"/>
                </a:solidFill>
                <a:latin typeface="Pretendard"/>
              </a:rPr>
              <a:t>55%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0484" y="5577840"/>
            <a:ext cx="19316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Group 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69404" y="4149547"/>
            <a:ext cx="1383030" cy="138257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95084" y="3875227"/>
            <a:ext cx="19316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754A"/>
                </a:solidFill>
                <a:latin typeface="Pretendard"/>
              </a:rPr>
              <a:t>84%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95084" y="5577840"/>
            <a:ext cx="19316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Group 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4005" y="4824374"/>
            <a:ext cx="1383030" cy="707745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09685" y="4550054"/>
            <a:ext cx="193167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754A"/>
                </a:solidFill>
                <a:latin typeface="Pretendard"/>
              </a:rPr>
              <a:t>43%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9685" y="5577840"/>
            <a:ext cx="193167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Group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E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Full-Width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" y="128016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-100">
                <a:solidFill>
                  <a:srgbClr val="161616"/>
                </a:solidFill>
                <a:latin typeface="Pretendard"/>
              </a:rPr>
              <a:t>Outcome comparison — Intervention vs Comparator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" y="1645920"/>
            <a:ext cx="11338560" cy="502920"/>
          </a:xfrm>
          <a:prstGeom prst="rect">
            <a:avLst/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" y="16459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Outcome metric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1939" y="164592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 spc="-100">
                <a:solidFill>
                  <a:srgbClr val="00754A"/>
                </a:solidFill>
                <a:latin typeface="Pretendard"/>
              </a:rPr>
              <a:t>Intervention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2420" y="164592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 spc="-100">
                <a:solidFill>
                  <a:srgbClr val="006241"/>
                </a:solidFill>
                <a:latin typeface="Pretendard"/>
              </a:rPr>
              <a:t>Comparator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" y="2148840"/>
            <a:ext cx="113385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" y="214884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Primary 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1939" y="214884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12.4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2420" y="214884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13.1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" y="2651760"/>
            <a:ext cx="11338560" cy="502920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" y="265176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Pain score (6mo)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1939" y="26517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spc="-100">
                <a:solidFill>
                  <a:srgbClr val="00754A"/>
                </a:solidFill>
                <a:latin typeface="Pretendard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2420" y="26517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4.5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087100" y="2784348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87100" y="2784348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-100">
                <a:solidFill>
                  <a:srgbClr val="FFFFFF"/>
                </a:solidFill>
                <a:latin typeface="Pretendard"/>
              </a:rPr>
              <a:t>p&lt;.05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" y="3154680"/>
            <a:ext cx="113385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" y="315468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Quality of life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91939" y="315468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0.82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2420" y="315468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0.79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" y="3657600"/>
            <a:ext cx="11338560" cy="502920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" y="365760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Complication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91939" y="365760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spc="-100">
                <a:solidFill>
                  <a:srgbClr val="00754A"/>
                </a:solidFill>
                <a:latin typeface="Pretendard"/>
              </a:rPr>
              <a:t>3.5%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32420" y="365760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87100" y="3790187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87100" y="3790187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-100">
                <a:solidFill>
                  <a:srgbClr val="FFFFFF"/>
                </a:solidFill>
                <a:latin typeface="Pretendard"/>
              </a:rPr>
              <a:t>p&lt;.05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4340" y="4160520"/>
            <a:ext cx="113385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" y="41605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Hospital stay (days)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1939" y="416052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spc="-100">
                <a:solidFill>
                  <a:srgbClr val="00754A"/>
                </a:solidFill>
                <a:latin typeface="Pretendard"/>
              </a:rPr>
              <a:t>3.2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2420" y="416052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5.8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87100" y="4293108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087100" y="4293108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-100">
                <a:solidFill>
                  <a:srgbClr val="FFFFFF"/>
                </a:solidFill>
                <a:latin typeface="Pretendard"/>
              </a:rPr>
              <a:t>p&lt;.05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" y="4663440"/>
            <a:ext cx="11338560" cy="502920"/>
          </a:xfrm>
          <a:prstGeom prst="rect">
            <a:avLst/>
          </a:prstGeom>
          <a:solidFill>
            <a:srgbClr val="EDEB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" y="466344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Return to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91939" y="466344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 spc="-100">
                <a:solidFill>
                  <a:srgbClr val="00754A"/>
                </a:solidFill>
                <a:latin typeface="Pretendard"/>
              </a:rPr>
              <a:t>21d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2420" y="466344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34d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87100" y="4796027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CBA2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087100" y="4796027"/>
            <a:ext cx="5486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 spc="-100">
                <a:solidFill>
                  <a:srgbClr val="FFFFFF"/>
                </a:solidFill>
                <a:latin typeface="Pretendard"/>
              </a:rPr>
              <a:t>p&lt;.05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4340" y="5166360"/>
            <a:ext cx="113385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7220" y="516636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Satisfaction (1-5)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91939" y="51663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4.6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32420" y="51663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 spc="-100">
                <a:solidFill>
                  <a:srgbClr val="161616"/>
                </a:solidFill>
                <a:latin typeface="Pretendard"/>
              </a:rPr>
              <a:t>4.3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F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Stacked Insight Layers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4340" y="1508760"/>
            <a:ext cx="11338560" cy="1188720"/>
          </a:xfrm>
          <a:prstGeom prst="roundRect">
            <a:avLst>
              <a:gd name="adj" fmla="val 7692"/>
            </a:avLst>
          </a:prstGeom>
          <a:solidFill>
            <a:srgbClr val="1E3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" y="1691639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CBA258"/>
                </a:solidFill>
                <a:latin typeface="Pretendard"/>
              </a:rPr>
              <a:t>KEY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0116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 spc="-100">
                <a:solidFill>
                  <a:srgbClr val="FFFFFF"/>
                </a:solidFill>
                <a:latin typeface="Pretendard"/>
              </a:rPr>
              <a:t>A single sentence stating the primary takeaway.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" y="2880360"/>
            <a:ext cx="11338560" cy="2194560"/>
          </a:xfrm>
          <a:prstGeom prst="roundRect">
            <a:avLst>
              <a:gd name="adj" fmla="val 4166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" y="3017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-100">
                <a:solidFill>
                  <a:srgbClr val="161616"/>
                </a:solidFill>
                <a:latin typeface="Pretendard"/>
              </a:rPr>
              <a:t>Supporting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879341"/>
            <a:ext cx="548640" cy="921257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94560" y="4205325"/>
            <a:ext cx="548640" cy="59527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8463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Outcome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695090"/>
            <a:ext cx="548640" cy="1105509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59" y="4021074"/>
            <a:ext cx="548640" cy="779525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60520" y="48463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Outcome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4162806"/>
            <a:ext cx="548640" cy="637793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80960" y="3921861"/>
            <a:ext cx="548640" cy="878738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20" y="48463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Outcome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3553358"/>
            <a:ext cx="548640" cy="1247241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424160" y="3794302"/>
            <a:ext cx="548640" cy="1006297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46919" y="48463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 spc="-100">
                <a:solidFill>
                  <a:srgbClr val="7A7A7A"/>
                </a:solidFill>
                <a:latin typeface="Pretendard"/>
              </a:rPr>
              <a:t>Outcome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" y="5257800"/>
            <a:ext cx="11338560" cy="1143000"/>
          </a:xfrm>
          <a:prstGeom prst="roundRect">
            <a:avLst>
              <a:gd name="adj" fmla="val 8000"/>
            </a:avLst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" y="54223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006241"/>
                </a:solidFill>
                <a:latin typeface="Pretendard"/>
              </a:rPr>
              <a:t>CLINICAL IMPLICATION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" y="5760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 spc="-100">
                <a:solidFill>
                  <a:srgbClr val="161616"/>
                </a:solidFill>
                <a:latin typeface="Pretendard"/>
              </a:rPr>
              <a:t>How this changes clinical practice, in one or two lines.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G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1460" y="2194560"/>
            <a:ext cx="1169974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100">
                <a:solidFill>
                  <a:srgbClr val="006241"/>
                </a:solidFill>
                <a:latin typeface="Pretendard"/>
              </a:rPr>
              <a:t>One bold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" y="3154680"/>
            <a:ext cx="1169974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100">
                <a:solidFill>
                  <a:srgbClr val="006241"/>
                </a:solidFill>
                <a:latin typeface="Pretendard"/>
              </a:rPr>
              <a:t>One strong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" y="4114800"/>
            <a:ext cx="11699748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 i="0" spc="-100">
                <a:solidFill>
                  <a:srgbClr val="00754A"/>
                </a:solidFill>
                <a:latin typeface="Pretendard"/>
              </a:rPr>
              <a:t>One clear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" y="5623560"/>
            <a:ext cx="116997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 i="1" spc="-100">
                <a:solidFill>
                  <a:srgbClr val="7A7A7A"/>
                </a:solidFill>
                <a:latin typeface="Pretendard"/>
              </a:rPr>
              <a:t>Sub-line — short italic descriptor that complements the big lines above.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H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Pillar Cards — multi-dimensional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4340" y="1783080"/>
            <a:ext cx="3643762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" y="1783080"/>
            <a:ext cx="3643762" cy="9144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41821" y="21031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821" y="210312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 spc="-100">
                <a:solidFill>
                  <a:srgbClr val="FFFFFF"/>
                </a:solidFill>
                <a:latin typeface="Pretendard"/>
              </a:rPr>
              <a:t>PILLAR 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" y="2788920"/>
            <a:ext cx="327800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 i="0" spc="-100">
                <a:solidFill>
                  <a:srgbClr val="006241"/>
                </a:solidFill>
                <a:latin typeface="Pretendard"/>
              </a:rPr>
              <a:t>Outcome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" y="3611880"/>
            <a:ext cx="327800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spc="-100">
                <a:solidFill>
                  <a:srgbClr val="161616"/>
                </a:solidFill>
                <a:latin typeface="Pretendard"/>
              </a:rPr>
              <a:t>Achieved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4114800"/>
            <a:ext cx="327800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 spc="-100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270" y="1783080"/>
            <a:ext cx="3643762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270" y="1783080"/>
            <a:ext cx="3643762" cy="9144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86751" y="21031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6751" y="210312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 spc="-100">
                <a:solidFill>
                  <a:srgbClr val="FFFFFF"/>
                </a:solidFill>
                <a:latin typeface="Pretendard"/>
              </a:rPr>
              <a:t>PILLAR TWO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150" y="2788920"/>
            <a:ext cx="327800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 i="0" spc="-100">
                <a:solidFill>
                  <a:srgbClr val="006241"/>
                </a:solidFill>
                <a:latin typeface="Pretendard"/>
              </a:rP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150" y="3611880"/>
            <a:ext cx="327800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spc="-100">
                <a:solidFill>
                  <a:srgbClr val="161616"/>
                </a:solidFill>
                <a:latin typeface="Pretendard"/>
              </a:rPr>
              <a:t>Safety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150" y="4114800"/>
            <a:ext cx="327800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 spc="-100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4200" y="1783080"/>
            <a:ext cx="3643762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24200" y="1783080"/>
            <a:ext cx="3643762" cy="9144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31681" y="210312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31681" y="2103120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 spc="-100">
                <a:solidFill>
                  <a:srgbClr val="FFFFFF"/>
                </a:solidFill>
                <a:latin typeface="Pretendard"/>
              </a:rPr>
              <a:t>PILLAR THREE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7080" y="2788920"/>
            <a:ext cx="3278002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1" i="0" spc="-100">
                <a:solidFill>
                  <a:srgbClr val="006241"/>
                </a:solidFill>
                <a:latin typeface="Pretendard"/>
              </a:rPr>
              <a:t>94.9%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7080" y="3611880"/>
            <a:ext cx="327800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 i="0" spc="-100">
                <a:solidFill>
                  <a:srgbClr val="161616"/>
                </a:solidFill>
                <a:latin typeface="Pretendard"/>
              </a:rPr>
              <a:t>Value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7080" y="4114800"/>
            <a:ext cx="327800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i="0" spc="-100">
                <a:solidFill>
                  <a:srgbClr val="1F1F1F"/>
                </a:solidFill>
                <a:latin typeface="Pretendard"/>
              </a:rPr>
              <a:t>One-line description of
why this pillar matters.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669280"/>
            <a:ext cx="11201400" cy="685800"/>
          </a:xfrm>
          <a:prstGeom prst="roundRect">
            <a:avLst>
              <a:gd name="adj" fmla="val 13333"/>
            </a:avLst>
          </a:prstGeom>
          <a:solidFill>
            <a:srgbClr val="1E3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669280"/>
            <a:ext cx="108356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1" i="0" spc="-100">
                <a:solidFill>
                  <a:srgbClr val="FFFFFF"/>
                </a:solidFill>
                <a:latin typeface="Pretendard"/>
              </a:rPr>
              <a:t>Unified take-home sentence linking the three pillars.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-100">
                <a:solidFill>
                  <a:srgbClr val="8E8E93"/>
                </a:solidFill>
                <a:latin typeface="Pretendard"/>
              </a:rPr>
              <a:t>PATTERN I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1460" y="4362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00">
                <a:solidFill>
                  <a:srgbClr val="006241"/>
                </a:solidFill>
                <a:latin typeface="Pretendard"/>
              </a:rPr>
              <a:t>Forest Plot — Equivalence margin band visible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2099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508760"/>
            <a:ext cx="11201400" cy="2011680"/>
          </a:xfrm>
          <a:prstGeom prst="roundRect">
            <a:avLst>
              <a:gd name="adj" fmla="val 3636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201168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7335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-100">
                <a:solidFill>
                  <a:srgbClr val="161616"/>
                </a:solidFill>
                <a:latin typeface="Pretendard"/>
              </a:rPr>
              <a:t>Trial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spc="-100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42316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2316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spc="-100">
                <a:solidFill>
                  <a:srgbClr val="FFFFFF"/>
                </a:solidFill>
                <a:latin typeface="Pretendard"/>
              </a:rPr>
              <a:t>Cohort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23160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spc="-100">
                <a:solidFill>
                  <a:srgbClr val="7A7A7A"/>
                </a:solidFill>
                <a:latin typeface="Pretendard"/>
              </a:rPr>
              <a:t>n = 87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57244" y="210312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49928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97160" y="210312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76288" y="210312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17870" y="2478024"/>
            <a:ext cx="2409443" cy="73152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06897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6341" y="2350008"/>
            <a:ext cx="21945" cy="329184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iamond 20"/>
          <p:cNvSpPr/>
          <p:nvPr/>
        </p:nvSpPr>
        <p:spPr>
          <a:xfrm>
            <a:off x="6885432" y="2377440"/>
            <a:ext cx="274320" cy="274320"/>
          </a:xfrm>
          <a:prstGeom prst="diamond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297180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1484" y="297180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5100" y="297180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8716" y="297180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297180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73736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 spc="-100">
                <a:solidFill>
                  <a:srgbClr val="00754A"/>
                </a:solidFill>
                <a:latin typeface="Pretendard"/>
              </a:rPr>
              <a:t>+0.6 (95% CI -4.5 to +5.7)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23317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23317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spc="-100">
                <a:solidFill>
                  <a:srgbClr val="FFFFFF"/>
                </a:solidFill>
                <a:latin typeface="Pretendard"/>
              </a:rPr>
              <a:t>p = 0.82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03320"/>
            <a:ext cx="11201400" cy="2011680"/>
          </a:xfrm>
          <a:prstGeom prst="roundRect">
            <a:avLst>
              <a:gd name="adj" fmla="val 3636"/>
            </a:avLst>
          </a:prstGeom>
          <a:solidFill>
            <a:srgbClr val="F9F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3703320"/>
            <a:ext cx="73152" cy="201168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3867911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-100">
                <a:solidFill>
                  <a:srgbClr val="161616"/>
                </a:solidFill>
                <a:latin typeface="Pretendard"/>
              </a:rPr>
              <a:t>Trial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233672"/>
            <a:ext cx="2377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 spc="-100">
                <a:solidFill>
                  <a:srgbClr val="7A7A7A"/>
                </a:solidFill>
                <a:latin typeface="Pretendard"/>
              </a:rPr>
              <a:t>Journal  ·  YYYY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61772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spc="-100">
                <a:solidFill>
                  <a:srgbClr val="FFFFFF"/>
                </a:solidFill>
                <a:latin typeface="Pretendard"/>
              </a:rPr>
              <a:t>Cohort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65960" y="4617720"/>
            <a:ext cx="13716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 spc="-100">
                <a:solidFill>
                  <a:srgbClr val="7A7A7A"/>
                </a:solidFill>
                <a:latin typeface="Pretendard"/>
              </a:rPr>
              <a:t>n = 106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57244" y="4297680"/>
            <a:ext cx="6047232" cy="822960"/>
          </a:xfrm>
          <a:prstGeom prst="rect">
            <a:avLst/>
          </a:prstGeom>
          <a:solidFill>
            <a:srgbClr val="D4E9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9928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897160" y="4297680"/>
            <a:ext cx="14630" cy="822960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76288" y="4297680"/>
            <a:ext cx="9144" cy="822960"/>
          </a:xfrm>
          <a:prstGeom prst="rect">
            <a:avLst/>
          </a:prstGeom>
          <a:solidFill>
            <a:srgbClr val="7A7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18660" y="4672584"/>
            <a:ext cx="2598420" cy="73152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0768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06107" y="4544568"/>
            <a:ext cx="21945" cy="329184"/>
          </a:xfrm>
          <a:prstGeom prst="rect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Diamond 43"/>
          <p:cNvSpPr/>
          <p:nvPr/>
        </p:nvSpPr>
        <p:spPr>
          <a:xfrm>
            <a:off x="5562600" y="4572000"/>
            <a:ext cx="274320" cy="274320"/>
          </a:xfrm>
          <a:prstGeom prst="diamond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71800" y="51663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−15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1484" y="51663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6241"/>
                </a:solidFill>
                <a:latin typeface="Pretendard"/>
              </a:rPr>
              <a:t>−12.8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5100" y="51663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38716" y="51663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 spc="-100">
                <a:solidFill>
                  <a:srgbClr val="006241"/>
                </a:solidFill>
                <a:latin typeface="Pretendard"/>
              </a:rPr>
              <a:t>+12.8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5166360"/>
            <a:ext cx="731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+15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931920"/>
            <a:ext cx="7086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 spc="-100">
                <a:solidFill>
                  <a:srgbClr val="006241"/>
                </a:solidFill>
                <a:latin typeface="Pretendard"/>
              </a:rPr>
              <a:t>-5.0 (95% CI -10 to +1)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607040" y="452628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607040" y="452628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 spc="-100">
                <a:solidFill>
                  <a:srgbClr val="FFFFFF"/>
                </a:solidFill>
                <a:latin typeface="Pretendard"/>
              </a:rPr>
              <a:t>p = 0.12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58521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 spc="-100">
                <a:solidFill>
                  <a:srgbClr val="7A7A7A"/>
                </a:solidFill>
                <a:latin typeface="Pretendard"/>
              </a:rPr>
              <a:t>Mean difference  (Intervention − Comparator)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6172200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1E39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5800" y="61722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spc="-100">
                <a:solidFill>
                  <a:srgbClr val="FFFFFF"/>
                </a:solidFill>
                <a:latin typeface="Pretendard"/>
              </a:rPr>
              <a:t>✓  Both 95% CIs lie within the ±12.8 equivalence margin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spc="-100">
                <a:solidFill>
                  <a:srgbClr val="8E8E93"/>
                </a:solidFill>
                <a:latin typeface="Pretendard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 i="0" spc="-100">
                <a:solidFill>
                  <a:srgbClr val="8E8E93"/>
                </a:solidFill>
                <a:latin typeface="Pretendard"/>
              </a:rPr>
              <a:t>Source: study cohort  ·  n = NN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688836" y="0"/>
            <a:ext cx="5472684" cy="6858000"/>
          </a:xfrm>
          <a:prstGeom prst="rect">
            <a:avLst/>
          </a:prstGeom>
          <a:solidFill>
            <a:srgbClr val="2450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673" y="0"/>
            <a:ext cx="1178387" cy="778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28600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200" b="1" i="0" spc="-100">
                <a:solidFill>
                  <a:srgbClr val="FFFFFF"/>
                </a:solidFill>
                <a:latin typeface="Pretendard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 spc="-100">
                <a:solidFill>
                  <a:srgbClr val="B3D4CB"/>
                </a:solidFill>
                <a:latin typeface="Pretendard"/>
              </a:rPr>
              <a:t>Questions and discussion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572000"/>
            <a:ext cx="1645920" cy="36576"/>
          </a:xfrm>
          <a:prstGeom prst="rect">
            <a:avLst/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66503" y="5102352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0" i="0" spc="-100">
                <a:solidFill>
                  <a:srgbClr val="8BB8AE"/>
                </a:solidFill>
                <a:latin typeface="Pretendard"/>
              </a:rPr>
              <a:t>Seoul National Univ. Bundang Hospital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6503" y="5477621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 b="1" i="0" spc="-100">
                <a:solidFill>
                  <a:srgbClr val="FFFFFF"/>
                </a:solidFill>
                <a:latin typeface="Pretendard"/>
              </a:rPr>
              <a:t>Sang-Min Park, MD, PhD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216" y="637812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 spc="-100">
                <a:solidFill>
                  <a:srgbClr val="8BB8AE"/>
                </a:solidFill>
                <a:latin typeface="Pretendard"/>
              </a:rPr>
              <a:t>Conference name   |   YYYY.MM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