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24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2548432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14984"/>
            <a:ext cx="2548432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-100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9666"/>
            <a:ext cx="8229600" cy="1666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 spc="-100">
                <a:solidFill>
                  <a:srgbClr val="FFFFFF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8229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-100">
                <a:solidFill>
                  <a:srgbClr val="B3D4C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1772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 spc="-100">
                <a:solidFill>
                  <a:srgbClr val="8BB8AE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 spc="-100">
                <a:solidFill>
                  <a:srgbClr val="FFFFF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 spc="-100">
                <a:solidFill>
                  <a:srgbClr val="8BB8AE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24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100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100">
                <a:solidFill>
                  <a:srgbClr val="FFFFFF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 spc="-100">
                <a:solidFill>
                  <a:srgbClr val="B3D4C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" y="945032"/>
            <a:ext cx="11247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spc="-100">
                <a:solidFill>
                  <a:srgbClr val="7A7A7A"/>
                </a:solidFill>
                <a:latin typeface="Pretendard"/>
              </a:rPr>
              <a:t>One large visualization occupying the body card.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-100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 spc="-100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 spc="-100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 spc="-100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 spc="-100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 spc="-100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 spc="-100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 spc="-100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 spc="-100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 spc="-100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" y="945032"/>
            <a:ext cx="11247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spc="-100">
                <a:solidFill>
                  <a:srgbClr val="7A7A7A"/>
                </a:solidFill>
                <a:latin typeface="Pretendard"/>
              </a:rPr>
              <a:t>Four KPI tiles surfacing headline metrics, with supporting chart below.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0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-100">
                <a:solidFill>
                  <a:srgbClr val="FFFFF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00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-100">
                <a:solidFill>
                  <a:srgbClr val="FFFFF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00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-100">
                <a:solidFill>
                  <a:srgbClr val="FFFFF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00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-100">
                <a:solidFill>
                  <a:srgbClr val="FFFFF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-100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" y="945032"/>
            <a:ext cx="11247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spc="-100">
                <a:solidFill>
                  <a:srgbClr val="7A7A7A"/>
                </a:solidFill>
                <a:latin typeface="Pretendard"/>
              </a:rPr>
              <a:t>Headline claim on the left, supporting visualization on the right.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" y="1645920"/>
            <a:ext cx="58677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-100">
                <a:solidFill>
                  <a:srgbClr val="161616"/>
                </a:solidFill>
                <a:latin typeface="Pretendard"/>
              </a:rPr>
              <a:t>Headline claim — the punchline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59" y="2331720"/>
            <a:ext cx="55476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 spc="-100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" y="283463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59" y="2834639"/>
            <a:ext cx="55476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 spc="-100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337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59" y="3337559"/>
            <a:ext cx="55476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 spc="-100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solidFill>
            <a:srgbClr val="1E3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-100">
                <a:solidFill>
                  <a:srgbClr val="FFFFF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-100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 spc="-100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" y="945032"/>
            <a:ext cx="11247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spc="-100">
                <a:solidFill>
                  <a:srgbClr val="7A7A7A"/>
                </a:solidFill>
                <a:latin typeface="Pretendard"/>
              </a:rPr>
              <a:t>Three large KPI tiles for headline numbers, with supporting chart below.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 i="0" spc="-10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 i="0" spc="-10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 i="0" spc="-10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-100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" y="945032"/>
            <a:ext cx="11247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spc="-100">
                <a:solidFill>
                  <a:srgbClr val="7A7A7A"/>
                </a:solidFill>
                <a:latin typeface="Pretendard"/>
              </a:rPr>
              <a:t>Side-by-side comparison table with significant findings highlighted.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-100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spc="-100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-100">
                <a:solidFill>
                  <a:srgbClr val="FFFFF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spc="-100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-100">
                <a:solidFill>
                  <a:srgbClr val="FFFFF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spc="-100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-100">
                <a:solidFill>
                  <a:srgbClr val="FFFFF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spc="-100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-100">
                <a:solidFill>
                  <a:srgbClr val="FFFFF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" y="945032"/>
            <a:ext cx="11247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spc="-100">
                <a:solidFill>
                  <a:srgbClr val="7A7A7A"/>
                </a:solidFill>
                <a:latin typeface="Pretendard"/>
              </a:rPr>
              <a:t>Three horizontal bands — finding, supporting evidence, clinical implication.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solidFill>
            <a:srgbClr val="1E3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-100">
                <a:solidFill>
                  <a:srgbClr val="FFFFF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-100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10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10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10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 spc="-100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" y="945032"/>
            <a:ext cx="11247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spc="-100">
                <a:solidFill>
                  <a:srgbClr val="7A7A7A"/>
                </a:solidFill>
                <a:latin typeface="Pretendard"/>
              </a:rPr>
              <a:t>Three (or more) parallel pillars with tag, big word, sub word, and short body.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FFFFF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 spc="-100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spc="-100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00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FFFFF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 spc="-100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spc="-100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00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FFFFF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 spc="-100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spc="-100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00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solidFill>
            <a:srgbClr val="1E3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 spc="-100">
                <a:solidFill>
                  <a:srgbClr val="FFFFF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" y="945032"/>
            <a:ext cx="11247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spc="-100">
                <a:solidFill>
                  <a:srgbClr val="7A7A7A"/>
                </a:solidFill>
                <a:latin typeface="Pretendard"/>
              </a:rPr>
              <a:t>One panel per trial. Visual proof that CIs lie within the equivalence margin.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-100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-100">
                <a:solidFill>
                  <a:srgbClr val="FFFFF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spc="-100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-100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-100">
                <a:solidFill>
                  <a:srgbClr val="FFFFF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-100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-100">
                <a:solidFill>
                  <a:srgbClr val="FFFFF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spc="-100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-100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-100">
                <a:solidFill>
                  <a:srgbClr val="FFFFF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1E3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-100">
                <a:solidFill>
                  <a:srgbClr val="FFFFF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24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100">
                <a:solidFill>
                  <a:srgbClr val="FFFFFF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 spc="-100">
                <a:solidFill>
                  <a:srgbClr val="B3D4C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 spc="-100">
                <a:solidFill>
                  <a:srgbClr val="8BB8AE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 spc="-100">
                <a:solidFill>
                  <a:srgbClr val="FFFFF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 spc="-100">
                <a:solidFill>
                  <a:srgbClr val="8BB8AE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