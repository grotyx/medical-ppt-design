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1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min Park" userId="4d1078831f804aa8" providerId="LiveId" clId="{FD74ABD8-2DB4-4925-8651-47553808EDF3}"/>
    <pc:docChg chg="modSld">
      <pc:chgData name="Sangmin Park" userId="4d1078831f804aa8" providerId="LiveId" clId="{FD74ABD8-2DB4-4925-8651-47553808EDF3}" dt="2026-06-06T15:28:18.166" v="0" actId="14861"/>
      <pc:docMkLst>
        <pc:docMk/>
      </pc:docMkLst>
      <pc:sldChg chg="modSp mod">
        <pc:chgData name="Sangmin Park" userId="4d1078831f804aa8" providerId="LiveId" clId="{FD74ABD8-2DB4-4925-8651-47553808EDF3}" dt="2026-06-06T15:28:18.166" v="0" actId="14861"/>
        <pc:sldMkLst>
          <pc:docMk/>
          <pc:sldMk cId="0" sldId="259"/>
        </pc:sldMkLst>
        <pc:spChg chg="mod">
          <ac:chgData name="Sangmin Park" userId="4d1078831f804aa8" providerId="LiveId" clId="{FD74ABD8-2DB4-4925-8651-47553808EDF3}" dt="2026-06-06T15:28:18.166" v="0" actId="14861"/>
          <ac:spMkLst>
            <pc:docMk/>
            <pc:sldMk cId="0" sldId="259"/>
            <ac:spMk id="1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-18">
                <a:solidFill>
                  <a:srgbClr val="6B6B6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 spc="-18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800" b="1" i="0" spc="-28">
                <a:solidFill>
                  <a:srgbClr val="006241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200">
                <a:solidFill>
                  <a:srgbClr val="E8E5D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36">
                <a:solidFill>
                  <a:srgbClr val="006241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 dirty="0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spc="-26">
                <a:solidFill>
                  <a:srgbClr val="1F1F1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 spc="-18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spc="-20">
                <a:solidFill>
                  <a:srgbClr val="1F1F1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72">
                <a:solidFill>
                  <a:srgbClr val="006241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spc="-20">
                <a:solidFill>
                  <a:srgbClr val="6B6B6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0" i="0" spc="-15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200" b="1" i="0" spc="-22">
                <a:solidFill>
                  <a:srgbClr val="1F1F1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J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Timeline — Milestone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310128"/>
            <a:ext cx="9052560" cy="3200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45389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3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Single-center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pilot</a:t>
            </a:r>
          </a:p>
        </p:txBody>
      </p:sp>
      <p:sp>
        <p:nvSpPr>
          <p:cNvPr id="41" name="Oval 40"/>
          <p:cNvSpPr/>
          <p:nvPr/>
        </p:nvSpPr>
        <p:spPr>
          <a:xfrm>
            <a:off x="371703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1177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0339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Multicenter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protocol</a:t>
            </a:r>
          </a:p>
        </p:txBody>
      </p:sp>
      <p:sp>
        <p:nvSpPr>
          <p:cNvPr id="44" name="Oval 43"/>
          <p:cNvSpPr/>
          <p:nvPr/>
        </p:nvSpPr>
        <p:spPr>
          <a:xfrm>
            <a:off x="598017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7492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First RCT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enrolment</a:t>
            </a:r>
          </a:p>
        </p:txBody>
      </p:sp>
      <p:sp>
        <p:nvSpPr>
          <p:cNvPr id="47" name="Oval 46"/>
          <p:cNvSpPr/>
          <p:nvPr/>
        </p:nvSpPr>
        <p:spPr>
          <a:xfrm>
            <a:off x="824331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3806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4662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Two RCTs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completed</a:t>
            </a:r>
          </a:p>
        </p:txBody>
      </p:sp>
      <p:sp>
        <p:nvSpPr>
          <p:cNvPr id="50" name="Oval 49"/>
          <p:cNvSpPr/>
          <p:nvPr/>
        </p:nvSpPr>
        <p:spPr>
          <a:xfrm>
            <a:off x="1050645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012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0976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Pooled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analyses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K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Process Flow — CONSORT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Assessed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9184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Randomized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8076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Allocated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86968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Analyzed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99008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ight Arrow 49"/>
          <p:cNvSpPr/>
          <p:nvPr/>
        </p:nvSpPr>
        <p:spPr>
          <a:xfrm>
            <a:off x="577900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ight Arrow 50"/>
          <p:cNvSpPr/>
          <p:nvPr/>
        </p:nvSpPr>
        <p:spPr>
          <a:xfrm>
            <a:off x="856792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Down Arrow 51"/>
          <p:cNvSpPr/>
          <p:nvPr/>
        </p:nvSpPr>
        <p:spPr>
          <a:xfrm>
            <a:off x="4434840" y="4297680"/>
            <a:ext cx="201168" cy="32004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3291840" y="4663440"/>
            <a:ext cx="2468880" cy="868680"/>
          </a:xfrm>
          <a:prstGeom prst="roundRect">
            <a:avLst/>
          </a:prstGeom>
          <a:noFill/>
          <a:ln w="1270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291840" y="48006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Excluded (n = NN)</a:t>
            </a:r>
          </a:p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– reason / criterion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L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Text Block — one editable text 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1554480"/>
            <a:ext cx="10881360" cy="4709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800" b="0" spc="-28">
                <a:solidFill>
                  <a:srgbClr val="1F1F1F"/>
                </a:solidFill>
                <a:latin typeface="Pretendard"/>
              </a:rPr>
              <a:t>Primary point — the single message of this slide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800" b="0" spc="-28">
                <a:solidFill>
                  <a:srgbClr val="1F1F1F"/>
                </a:solidFill>
                <a:latin typeface="Pretendard"/>
              </a:rPr>
              <a:t>Supporting line with a </a:t>
            </a:r>
            <a:r>
              <a:rPr sz="2800" b="1" spc="-28">
                <a:solidFill>
                  <a:srgbClr val="00754A"/>
                </a:solidFill>
                <a:latin typeface="Pretendard"/>
              </a:rPr>
              <a:t>key phrase</a:t>
            </a:r>
            <a:r>
              <a:rPr sz="2800" b="0" spc="-28">
                <a:solidFill>
                  <a:srgbClr val="1F1F1F"/>
                </a:solidFill>
                <a:latin typeface="Pretendard"/>
              </a:rPr>
              <a:t> emphasised</a:t>
            </a:r>
          </a:p>
          <a:p>
            <a:pPr>
              <a:lnSpc>
                <a:spcPct val="55000"/>
              </a:lnSpc>
              <a:buNone/>
            </a:pPr>
            <a:endParaRPr sz="2800" b="0" spc="-28">
              <a:solidFill>
                <a:srgbClr val="1F1F1F"/>
              </a:solidFill>
              <a:latin typeface="Pretendard"/>
            </a:endParaRP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3200" b="0" spc="-32">
                <a:solidFill>
                  <a:srgbClr val="1F1F1F"/>
                </a:solidFill>
                <a:latin typeface="Pretendard"/>
              </a:rPr>
              <a:t>A larger line when one statement needs weight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400" b="0" spc="-24">
                <a:solidFill>
                  <a:srgbClr val="6B6B6B"/>
                </a:solidFill>
                <a:latin typeface="Pretendard"/>
              </a:rPr>
              <a:t>secondary detail, one step down</a:t>
            </a:r>
          </a:p>
          <a:p>
            <a:pPr>
              <a:lnSpc>
                <a:spcPct val="55000"/>
              </a:lnSpc>
              <a:buNone/>
            </a:pPr>
            <a:endParaRPr sz="2400" b="0" spc="-24">
              <a:solidFill>
                <a:srgbClr val="6B6B6B"/>
              </a:solidFill>
              <a:latin typeface="Pretendard"/>
            </a:endParaRP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800" b="0" spc="-28">
                <a:solidFill>
                  <a:srgbClr val="1F1F1F"/>
                </a:solidFill>
                <a:latin typeface="Pretendard"/>
              </a:rPr>
              <a:t>Closing point — </a:t>
            </a:r>
            <a:r>
              <a:rPr sz="2800" b="1" spc="-28">
                <a:solidFill>
                  <a:srgbClr val="00754A"/>
                </a:solidFill>
                <a:latin typeface="Pretendard"/>
              </a:rPr>
              <a:t>the conclusion</a:t>
            </a:r>
            <a:r>
              <a:rPr sz="2800" b="0" spc="-28">
                <a:solidFill>
                  <a:srgbClr val="1F1F1F"/>
                </a:solidFill>
                <a:latin typeface="Pretendard"/>
              </a:rPr>
              <a:t> in bold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747</Words>
  <Application>Microsoft Office PowerPoint</Application>
  <PresentationFormat>와이드스크린</PresentationFormat>
  <Paragraphs>232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Sangmin Park</cp:lastModifiedBy>
  <cp:revision>1</cp:revision>
  <dcterms:created xsi:type="dcterms:W3CDTF">2013-01-27T09:14:16Z</dcterms:created>
  <dcterms:modified xsi:type="dcterms:W3CDTF">2026-06-09T02:54:52Z</dcterms:modified>
  <cp:category/>
</cp:coreProperties>
</file>